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2400" b="1">
                <a:solidFill>
                  <a:srgbClr val="0F172A"/>
                </a:solidFill>
              </a:defRPr>
            </a:pPr>
            <a:r>
              <a:t>Client Weekly Delivery Status - Order Management Modernization</a:t>
            </a:r>
          </a:p>
        </p:txBody>
      </p:sp>
      <p:sp>
        <p:nvSpPr>
          <p:cNvPr id="3" name="Subtitle 2"/>
          <p:cNvSpPr>
            <a:spLocks noGrp="1"/>
          </p:cNvSpPr>
          <p:nvPr>
            <p:ph type="subTitle" idx="1"/>
          </p:nvPr>
        </p:nvSpPr>
        <p:spPr/>
        <p:txBody>
          <a:bodyPr/>
          <a:lstStyle/>
          <a:p>
            <a:r>
              <a:t>AI-assisted delivery governance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Executive Delivery Summary</a:t>
            </a:r>
          </a:p>
        </p:txBody>
      </p:sp>
      <p:sp>
        <p:nvSpPr>
          <p:cNvPr id="3" name="TextBox 2"/>
          <p:cNvSpPr txBox="1"/>
          <p:nvPr/>
        </p:nvSpPr>
        <p:spPr>
          <a:xfrm>
            <a:off x="594360" y="960120"/>
            <a:ext cx="8138160" cy="1325880"/>
          </a:xfrm>
          <a:prstGeom prst="rect">
            <a:avLst/>
          </a:prstGeom>
          <a:noFill/>
        </p:spPr>
        <p:txBody>
          <a:bodyPr wrap="square" lIns="54864" rIns="54864">
            <a:spAutoFit/>
          </a:bodyPr>
          <a:lstStyle/>
          <a:p>
            <a:pPr>
              <a:defRPr sz="1400" b="0">
                <a:solidFill>
                  <a:srgbClr val="0F172A"/>
                </a:solidFill>
              </a:defRPr>
            </a:pPr>
            <a:r>
              <a:t>Delivery position: The Order Management Modernization project is 81% complete on average, with one contributor reporting a green health status and three reporting amber, indicating progress toward key milestones.</a:t>
            </a:r>
          </a:p>
          <a:p>
            <a:pPr>
              <a:defRPr sz="1400" b="0">
                <a:solidFill>
                  <a:srgbClr val="0F172A"/>
                </a:solidFill>
              </a:defRPr>
            </a:pPr>
            <a:r>
              <a:t>Risk posture: Two blockers have been identified, including the client security team's pending approval of the token rotation approach and the need for faster product owner turnaround in defect triage.</a:t>
            </a:r>
          </a:p>
          <a:p>
            <a:pPr>
              <a:defRPr sz="1400" b="0">
                <a:solidFill>
                  <a:srgbClr val="0F172A"/>
                </a:solidFill>
              </a:defRPr>
            </a:pPr>
            <a:r>
              <a:t>Leadership actions: To maintain momentum, leadership should prioritize facilitating the client security team's approval of the token rotation approach and ensuring timely product owner input for defect triage, enabling the project to stay on track for peak-season readiness.</a:t>
            </a:r>
          </a:p>
        </p:txBody>
      </p:sp>
      <p:sp>
        <p:nvSpPr>
          <p:cNvPr id="4" name="TextBox 3"/>
          <p:cNvSpPr txBox="1"/>
          <p:nvPr/>
        </p:nvSpPr>
        <p:spPr>
          <a:xfrm>
            <a:off x="594360" y="685800"/>
            <a:ext cx="7955279" cy="228600"/>
          </a:xfrm>
          <a:prstGeom prst="rect">
            <a:avLst/>
          </a:prstGeom>
          <a:noFill/>
        </p:spPr>
        <p:txBody>
          <a:bodyPr wrap="square" lIns="54864" rIns="54864">
            <a:spAutoFit/>
          </a:bodyPr>
          <a:lstStyle/>
          <a:p>
            <a:pPr>
              <a:defRPr sz="1000" b="1">
                <a:solidFill>
                  <a:srgbClr val="1D4ED8"/>
                </a:solidFill>
              </a:defRPr>
            </a:pPr>
            <a:r>
              <a:t>Scope: project:proj-oms-modernization</a:t>
            </a:r>
          </a:p>
        </p:txBody>
      </p:sp>
      <p:sp>
        <p:nvSpPr>
          <p:cNvPr id="5" name="TextBox 4"/>
          <p:cNvSpPr txBox="1"/>
          <p:nvPr/>
        </p:nvSpPr>
        <p:spPr>
          <a:xfrm>
            <a:off x="685800" y="2606040"/>
            <a:ext cx="7680960" cy="1234440"/>
          </a:xfrm>
          <a:prstGeom prst="rect">
            <a:avLst/>
          </a:prstGeom>
          <a:noFill/>
        </p:spPr>
        <p:txBody>
          <a:bodyPr wrap="square" lIns="54864" rIns="54864">
            <a:spAutoFit/>
          </a:bodyPr>
          <a:lstStyle/>
          <a:p>
            <a:pPr>
              <a:defRPr sz="1200" b="0">
                <a:solidFill>
                  <a:srgbClr val="475569"/>
                </a:solidFill>
              </a:defRPr>
            </a:pPr>
            <a:r>
              <a:t>Leadership Actions</a:t>
            </a:r>
          </a:p>
          <a:p>
            <a:pPr>
              <a:defRPr sz="1200" b="0">
                <a:solidFill>
                  <a:srgbClr val="475569"/>
                </a:solidFill>
              </a:defRPr>
            </a:pPr>
            <a:r>
              <a:t>- Director to secure client security decision by Wednesday governance call.</a:t>
            </a:r>
          </a:p>
          <a:p>
            <a:pPr>
              <a:defRPr sz="1200" b="0">
                <a:solidFill>
                  <a:srgbClr val="475569"/>
                </a:solidFill>
              </a:defRPr>
            </a:pPr>
            <a:r>
              <a:t>- Set daily defect triage with client product owner until UAT exit.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Delivery Status Dashboard</a:t>
            </a:r>
          </a:p>
        </p:txBody>
      </p:sp>
      <p:sp>
        <p:nvSpPr>
          <p:cNvPr id="3" name="Rounded Rectangle 2"/>
          <p:cNvSpPr/>
          <p:nvPr/>
        </p:nvSpPr>
        <p:spPr>
          <a:xfrm>
            <a:off x="411480"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D4ED8"/>
                </a:solidFill>
              </a:defRPr>
            </a:pPr>
            <a:r>
              <a:t>1</a:t>
            </a:r>
          </a:p>
          <a:p>
            <a:pPr>
              <a:defRPr sz="800" b="1">
                <a:solidFill>
                  <a:srgbClr val="475569"/>
                </a:solidFill>
              </a:defRPr>
            </a:pPr>
            <a:r>
              <a:t>Projects</a:t>
            </a:r>
          </a:p>
        </p:txBody>
      </p:sp>
      <p:sp>
        <p:nvSpPr>
          <p:cNvPr id="4" name="Rounded Rectangle 3"/>
          <p:cNvSpPr/>
          <p:nvPr/>
        </p:nvSpPr>
        <p:spPr>
          <a:xfrm>
            <a:off x="2130552"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D4ED8"/>
                </a:solidFill>
              </a:defRPr>
            </a:pPr>
            <a:r>
              <a:t>4</a:t>
            </a:r>
          </a:p>
          <a:p>
            <a:pPr>
              <a:defRPr sz="800" b="1">
                <a:solidFill>
                  <a:srgbClr val="475569"/>
                </a:solidFill>
              </a:defRPr>
            </a:pPr>
            <a:r>
              <a:t>Updates</a:t>
            </a:r>
          </a:p>
        </p:txBody>
      </p:sp>
      <p:sp>
        <p:nvSpPr>
          <p:cNvPr id="5" name="Rounded Rectangle 4"/>
          <p:cNvSpPr/>
          <p:nvPr/>
        </p:nvSpPr>
        <p:spPr>
          <a:xfrm>
            <a:off x="3849624"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6A34A"/>
                </a:solidFill>
              </a:defRPr>
            </a:pPr>
            <a:r>
              <a:t>1</a:t>
            </a:r>
          </a:p>
          <a:p>
            <a:pPr>
              <a:defRPr sz="800" b="1">
                <a:solidFill>
                  <a:srgbClr val="475569"/>
                </a:solidFill>
              </a:defRPr>
            </a:pPr>
            <a:r>
              <a:t>Approved</a:t>
            </a:r>
          </a:p>
        </p:txBody>
      </p:sp>
      <p:sp>
        <p:nvSpPr>
          <p:cNvPr id="6" name="Rounded Rectangle 5"/>
          <p:cNvSpPr/>
          <p:nvPr/>
        </p:nvSpPr>
        <p:spPr>
          <a:xfrm>
            <a:off x="5568696"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DC2626"/>
                </a:solidFill>
              </a:defRPr>
            </a:pPr>
            <a:r>
              <a:t>2</a:t>
            </a:r>
          </a:p>
          <a:p>
            <a:pPr>
              <a:defRPr sz="800" b="1">
                <a:solidFill>
                  <a:srgbClr val="475569"/>
                </a:solidFill>
              </a:defRPr>
            </a:pPr>
            <a:r>
              <a:t>Blocked</a:t>
            </a:r>
          </a:p>
        </p:txBody>
      </p:sp>
      <p:sp>
        <p:nvSpPr>
          <p:cNvPr id="7" name="Rounded Rectangle 6"/>
          <p:cNvSpPr/>
          <p:nvPr/>
        </p:nvSpPr>
        <p:spPr>
          <a:xfrm>
            <a:off x="7287768"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6A34A"/>
                </a:solidFill>
              </a:defRPr>
            </a:pPr>
            <a:r>
              <a:t>81%</a:t>
            </a:r>
          </a:p>
          <a:p>
            <a:pPr>
              <a:defRPr sz="800" b="1">
                <a:solidFill>
                  <a:srgbClr val="475569"/>
                </a:solidFill>
              </a:defRPr>
            </a:pPr>
            <a:r>
              <a:t>Avg Complete</a:t>
            </a:r>
          </a:p>
        </p:txBody>
      </p:sp>
      <p:sp>
        <p:nvSpPr>
          <p:cNvPr id="8" name="TextBox 7"/>
          <p:cNvSpPr txBox="1"/>
          <p:nvPr/>
        </p:nvSpPr>
        <p:spPr>
          <a:xfrm>
            <a:off x="640080" y="2057400"/>
            <a:ext cx="2286000" cy="274320"/>
          </a:xfrm>
          <a:prstGeom prst="rect">
            <a:avLst/>
          </a:prstGeom>
          <a:noFill/>
        </p:spPr>
        <p:txBody>
          <a:bodyPr wrap="square" lIns="54864" rIns="54864">
            <a:spAutoFit/>
          </a:bodyPr>
          <a:lstStyle/>
          <a:p>
            <a:pPr>
              <a:defRPr sz="1300" b="1">
                <a:solidFill>
                  <a:srgbClr val="0F172A"/>
                </a:solidFill>
              </a:defRPr>
            </a:pPr>
            <a:r>
              <a:t>Health Distribution</a:t>
            </a:r>
          </a:p>
        </p:txBody>
      </p:sp>
      <p:sp>
        <p:nvSpPr>
          <p:cNvPr id="9" name="TextBox 8"/>
          <p:cNvSpPr txBox="1"/>
          <p:nvPr/>
        </p:nvSpPr>
        <p:spPr>
          <a:xfrm>
            <a:off x="685800" y="2514600"/>
            <a:ext cx="777240" cy="201168"/>
          </a:xfrm>
          <a:prstGeom prst="rect">
            <a:avLst/>
          </a:prstGeom>
          <a:noFill/>
        </p:spPr>
        <p:txBody>
          <a:bodyPr wrap="square" lIns="54864" rIns="54864">
            <a:spAutoFit/>
          </a:bodyPr>
          <a:lstStyle/>
          <a:p>
            <a:pPr>
              <a:defRPr sz="900" b="1">
                <a:solidFill>
                  <a:srgbClr val="475569"/>
                </a:solidFill>
              </a:defRPr>
            </a:pPr>
            <a:r>
              <a:t>Green</a:t>
            </a:r>
          </a:p>
        </p:txBody>
      </p:sp>
      <p:sp>
        <p:nvSpPr>
          <p:cNvPr id="10" name="Rectangle 9"/>
          <p:cNvSpPr/>
          <p:nvPr/>
        </p:nvSpPr>
        <p:spPr>
          <a:xfrm>
            <a:off x="1417320" y="2514600"/>
            <a:ext cx="1478280" cy="201168"/>
          </a:xfrm>
          <a:prstGeom prst="rect">
            <a:avLst/>
          </a:prstGeom>
          <a:solidFill>
            <a:srgbClr val="16A34A"/>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2514600"/>
            <a:ext cx="411480" cy="201168"/>
          </a:xfrm>
          <a:prstGeom prst="rect">
            <a:avLst/>
          </a:prstGeom>
          <a:noFill/>
        </p:spPr>
        <p:txBody>
          <a:bodyPr wrap="square" lIns="54864" rIns="54864">
            <a:spAutoFit/>
          </a:bodyPr>
          <a:lstStyle/>
          <a:p>
            <a:pPr>
              <a:defRPr sz="900" b="1">
                <a:solidFill>
                  <a:srgbClr val="475569"/>
                </a:solidFill>
              </a:defRPr>
            </a:pPr>
            <a:r>
              <a:t>1</a:t>
            </a:r>
          </a:p>
        </p:txBody>
      </p:sp>
      <p:sp>
        <p:nvSpPr>
          <p:cNvPr id="12" name="TextBox 11"/>
          <p:cNvSpPr txBox="1"/>
          <p:nvPr/>
        </p:nvSpPr>
        <p:spPr>
          <a:xfrm>
            <a:off x="685800" y="2953512"/>
            <a:ext cx="777240" cy="201168"/>
          </a:xfrm>
          <a:prstGeom prst="rect">
            <a:avLst/>
          </a:prstGeom>
          <a:noFill/>
        </p:spPr>
        <p:txBody>
          <a:bodyPr wrap="square" lIns="54864" rIns="54864">
            <a:spAutoFit/>
          </a:bodyPr>
          <a:lstStyle/>
          <a:p>
            <a:pPr>
              <a:defRPr sz="900" b="1">
                <a:solidFill>
                  <a:srgbClr val="475569"/>
                </a:solidFill>
              </a:defRPr>
            </a:pPr>
            <a:r>
              <a:t>Amber</a:t>
            </a:r>
          </a:p>
        </p:txBody>
      </p:sp>
      <p:sp>
        <p:nvSpPr>
          <p:cNvPr id="13" name="Rectangle 12"/>
          <p:cNvSpPr/>
          <p:nvPr/>
        </p:nvSpPr>
        <p:spPr>
          <a:xfrm>
            <a:off x="1417320" y="2953512"/>
            <a:ext cx="3794759" cy="201168"/>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2953512"/>
            <a:ext cx="411480" cy="201168"/>
          </a:xfrm>
          <a:prstGeom prst="rect">
            <a:avLst/>
          </a:prstGeom>
          <a:noFill/>
        </p:spPr>
        <p:txBody>
          <a:bodyPr wrap="square" lIns="54864" rIns="54864">
            <a:spAutoFit/>
          </a:bodyPr>
          <a:lstStyle/>
          <a:p>
            <a:pPr>
              <a:defRPr sz="900" b="1">
                <a:solidFill>
                  <a:srgbClr val="475569"/>
                </a:solidFill>
              </a:defRPr>
            </a:pPr>
            <a:r>
              <a:t>3</a:t>
            </a:r>
          </a:p>
        </p:txBody>
      </p:sp>
      <p:sp>
        <p:nvSpPr>
          <p:cNvPr id="15" name="TextBox 14"/>
          <p:cNvSpPr txBox="1"/>
          <p:nvPr/>
        </p:nvSpPr>
        <p:spPr>
          <a:xfrm>
            <a:off x="685800" y="3392424"/>
            <a:ext cx="777240" cy="201168"/>
          </a:xfrm>
          <a:prstGeom prst="rect">
            <a:avLst/>
          </a:prstGeom>
          <a:noFill/>
        </p:spPr>
        <p:txBody>
          <a:bodyPr wrap="square" lIns="54864" rIns="54864">
            <a:spAutoFit/>
          </a:bodyPr>
          <a:lstStyle/>
          <a:p>
            <a:pPr>
              <a:defRPr sz="900" b="1">
                <a:solidFill>
                  <a:srgbClr val="475569"/>
                </a:solidFill>
              </a:defRPr>
            </a:pPr>
            <a:r>
              <a:t>Red</a:t>
            </a:r>
          </a:p>
        </p:txBody>
      </p:sp>
      <p:sp>
        <p:nvSpPr>
          <p:cNvPr id="16" name="Rectangle 15"/>
          <p:cNvSpPr/>
          <p:nvPr/>
        </p:nvSpPr>
        <p:spPr>
          <a:xfrm>
            <a:off x="1417320" y="3392424"/>
            <a:ext cx="320040" cy="20116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3392424"/>
            <a:ext cx="411480" cy="201168"/>
          </a:xfrm>
          <a:prstGeom prst="rect">
            <a:avLst/>
          </a:prstGeom>
          <a:noFill/>
        </p:spPr>
        <p:txBody>
          <a:bodyPr wrap="square" lIns="54864" rIns="54864">
            <a:spAutoFit/>
          </a:bodyPr>
          <a:lstStyle/>
          <a:p>
            <a:pPr>
              <a:defRPr sz="900" b="1">
                <a:solidFill>
                  <a:srgbClr val="475569"/>
                </a:solidFill>
              </a:defRPr>
            </a:pPr>
            <a:r>
              <a:t>0</a:t>
            </a:r>
          </a:p>
        </p:txBody>
      </p:sp>
      <p:sp>
        <p:nvSpPr>
          <p:cNvPr id="18" name="TextBox 17"/>
          <p:cNvSpPr txBox="1"/>
          <p:nvPr/>
        </p:nvSpPr>
        <p:spPr>
          <a:xfrm>
            <a:off x="5715000" y="2148840"/>
            <a:ext cx="2743200" cy="1463040"/>
          </a:xfrm>
          <a:prstGeom prst="rect">
            <a:avLst/>
          </a:prstGeom>
          <a:noFill/>
        </p:spPr>
        <p:txBody>
          <a:bodyPr wrap="square" lIns="54864" rIns="54864">
            <a:spAutoFit/>
          </a:bodyPr>
          <a:lstStyle/>
          <a:p>
            <a:pPr>
              <a:defRPr sz="1100" b="0">
                <a:solidFill>
                  <a:srgbClr val="475569"/>
                </a:solidFill>
              </a:defRPr>
            </a:pPr>
            <a:r>
              <a:t>Interpretation</a:t>
            </a:r>
          </a:p>
          <a:p>
            <a:pPr>
              <a:defRPr sz="1100" b="0">
                <a:solidFill>
                  <a:srgbClr val="475569"/>
                </a:solidFill>
              </a:defRPr>
            </a:pPr>
            <a:r>
              <a:t>Green indicates on-track execution. Amber requires management follow-up. Red or blocker-backed items should be treated as escalation candidates for the next governance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Team Status Detail</a:t>
            </a:r>
          </a:p>
        </p:txBody>
      </p:sp>
      <p:graphicFrame>
        <p:nvGraphicFramePr>
          <p:cNvPr id="3" name="Table 2"/>
          <p:cNvGraphicFramePr>
            <a:graphicFrameLocks noGrp="1"/>
          </p:cNvGraphicFramePr>
          <p:nvPr/>
        </p:nvGraphicFramePr>
        <p:xfrm>
          <a:off x="228600" y="960120"/>
          <a:ext cx="8686800" cy="4480560"/>
        </p:xfrm>
        <a:graphic>
          <a:graphicData uri="http://schemas.openxmlformats.org/drawingml/2006/table">
            <a:tbl>
              <a:tblPr firstRow="1" bandRow="1">
                <a:tableStyleId>{5C22544A-7EE6-4342-B048-85BDC9FD1C3A}</a:tableStyleId>
              </a:tblPr>
              <a:tblGrid>
                <a:gridCol w="1447800"/>
                <a:gridCol w="1447800"/>
                <a:gridCol w="1447800"/>
                <a:gridCol w="1447800"/>
                <a:gridCol w="1447800"/>
                <a:gridCol w="1447800"/>
              </a:tblGrid>
              <a:tr h="896112">
                <a:tc>
                  <a:txBody>
                    <a:bodyPr/>
                    <a:lstStyle/>
                    <a:p>
                      <a:pPr>
                        <a:defRPr b="1" sz="900">
                          <a:solidFill>
                            <a:srgbClr val="FFFFFF"/>
                          </a:solidFill>
                        </a:defRPr>
                      </a:pPr>
                      <a:r>
                        <a:t>Person</a:t>
                      </a:r>
                    </a:p>
                  </a:txBody>
                  <a:tcPr>
                    <a:solidFill>
                      <a:srgbClr val="0F172A"/>
                    </a:solidFill>
                  </a:tcPr>
                </a:tc>
                <a:tc>
                  <a:txBody>
                    <a:bodyPr/>
                    <a:lstStyle/>
                    <a:p>
                      <a:pPr>
                        <a:defRPr b="1" sz="900">
                          <a:solidFill>
                            <a:srgbClr val="FFFFFF"/>
                          </a:solidFill>
                        </a:defRPr>
                      </a:pPr>
                      <a:r>
                        <a:t>Project</a:t>
                      </a:r>
                    </a:p>
                  </a:txBody>
                  <a:tcPr>
                    <a:solidFill>
                      <a:srgbClr val="0F172A"/>
                    </a:solidFill>
                  </a:tcPr>
                </a:tc>
                <a:tc>
                  <a:txBody>
                    <a:bodyPr/>
                    <a:lstStyle/>
                    <a:p>
                      <a:pPr>
                        <a:defRPr b="1" sz="900">
                          <a:solidFill>
                            <a:srgbClr val="FFFFFF"/>
                          </a:solidFill>
                        </a:defRPr>
                      </a:pPr>
                      <a:r>
                        <a:t>Period</a:t>
                      </a:r>
                    </a:p>
                  </a:txBody>
                  <a:tcPr>
                    <a:solidFill>
                      <a:srgbClr val="0F172A"/>
                    </a:solidFill>
                  </a:tcPr>
                </a:tc>
                <a:tc>
                  <a:txBody>
                    <a:bodyPr/>
                    <a:lstStyle/>
                    <a:p>
                      <a:pPr>
                        <a:defRPr b="1" sz="900">
                          <a:solidFill>
                            <a:srgbClr val="FFFFFF"/>
                          </a:solidFill>
                        </a:defRPr>
                      </a:pPr>
                      <a:r>
                        <a:t>Health</a:t>
                      </a:r>
                    </a:p>
                  </a:txBody>
                  <a:tcPr>
                    <a:solidFill>
                      <a:srgbClr val="0F172A"/>
                    </a:solidFill>
                  </a:tcPr>
                </a:tc>
                <a:tc>
                  <a:txBody>
                    <a:bodyPr/>
                    <a:lstStyle/>
                    <a:p>
                      <a:pPr>
                        <a:defRPr b="1" sz="900">
                          <a:solidFill>
                            <a:srgbClr val="FFFFFF"/>
                          </a:solidFill>
                        </a:defRPr>
                      </a:pPr>
                      <a:r>
                        <a:t>Complete</a:t>
                      </a:r>
                    </a:p>
                  </a:txBody>
                  <a:tcPr>
                    <a:solidFill>
                      <a:srgbClr val="0F172A"/>
                    </a:solidFill>
                  </a:tcPr>
                </a:tc>
                <a:tc>
                  <a:txBody>
                    <a:bodyPr/>
                    <a:lstStyle/>
                    <a:p>
                      <a:pPr>
                        <a:defRPr b="1" sz="900">
                          <a:solidFill>
                            <a:srgbClr val="FFFFFF"/>
                          </a:solidFill>
                        </a:defRPr>
                      </a:pPr>
                      <a:r>
                        <a:t>Key Update</a:t>
                      </a:r>
                    </a:p>
                  </a:txBody>
                  <a:tcPr>
                    <a:solidFill>
                      <a:srgbClr val="0F172A"/>
                    </a:solidFill>
                  </a:tcPr>
                </a:tc>
              </a:tr>
              <a:tr h="896112">
                <a:tc>
                  <a:txBody>
                    <a:bodyPr/>
                    <a:lstStyle/>
                    <a:p>
                      <a:pPr>
                        <a:defRPr sz="800">
                          <a:solidFill>
                            <a:srgbClr val="0F172A"/>
                          </a:solidFill>
                        </a:defRPr>
                      </a:pPr>
                      <a:r>
                        <a:t>Anya Rao</a:t>
                      </a:r>
                    </a:p>
                  </a:txBody>
                  <a:tcPr/>
                </a:tc>
                <a:tc>
                  <a:txBody>
                    <a:bodyPr/>
                    <a:lstStyle/>
                    <a:p>
                      <a:pPr>
                        <a:defRPr sz="800">
                          <a:solidFill>
                            <a:srgbClr val="475569"/>
                          </a:solidFill>
                        </a:defRPr>
                      </a:pPr>
                      <a:r>
                        <a:t>Order Management Modernization</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Green</a:t>
                      </a:r>
                    </a:p>
                  </a:txBody>
                  <a:tcPr/>
                </a:tc>
                <a:tc>
                  <a:txBody>
                    <a:bodyPr/>
                    <a:lstStyle/>
                    <a:p>
                      <a:pPr>
                        <a:defRPr sz="800">
                          <a:solidFill>
                            <a:srgbClr val="475569"/>
                          </a:solidFill>
                        </a:defRPr>
                      </a:pPr>
                      <a:r>
                        <a:t>84%</a:t>
                      </a:r>
                    </a:p>
                  </a:txBody>
                  <a:tcPr/>
                </a:tc>
                <a:tc>
                  <a:txBody>
                    <a:bodyPr/>
                    <a:lstStyle/>
                    <a:p>
                      <a:pPr>
                        <a:defRPr sz="800">
                          <a:solidFill>
                            <a:srgbClr val="475569"/>
                          </a:solidFill>
                        </a:defRPr>
                      </a:pPr>
                      <a:r>
                        <a:t>Completed order exception queue and retry visibility widgets. UAT build is deployed...</a:t>
                      </a:r>
                    </a:p>
                  </a:txBody>
                  <a:tcPr/>
                </a:tc>
              </a:tr>
              <a:tr h="896112">
                <a:tc>
                  <a:txBody>
                    <a:bodyPr/>
                    <a:lstStyle/>
                    <a:p>
                      <a:pPr>
                        <a:defRPr sz="800">
                          <a:solidFill>
                            <a:srgbClr val="0F172A"/>
                          </a:solidFill>
                        </a:defRPr>
                      </a:pPr>
                      <a:r>
                        <a:t>Vikram Desai</a:t>
                      </a:r>
                    </a:p>
                  </a:txBody>
                  <a:tcPr/>
                </a:tc>
                <a:tc>
                  <a:txBody>
                    <a:bodyPr/>
                    <a:lstStyle/>
                    <a:p>
                      <a:pPr>
                        <a:defRPr sz="800">
                          <a:solidFill>
                            <a:srgbClr val="475569"/>
                          </a:solidFill>
                        </a:defRPr>
                      </a:pPr>
                      <a:r>
                        <a:t>Order Management Modernization</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Amber</a:t>
                      </a:r>
                    </a:p>
                  </a:txBody>
                  <a:tcPr/>
                </a:tc>
                <a:tc>
                  <a:txBody>
                    <a:bodyPr/>
                    <a:lstStyle/>
                    <a:p>
                      <a:pPr>
                        <a:defRPr sz="800">
                          <a:solidFill>
                            <a:srgbClr val="475569"/>
                          </a:solidFill>
                        </a:defRPr>
                      </a:pPr>
                      <a:r>
                        <a:t>80%</a:t>
                      </a:r>
                    </a:p>
                  </a:txBody>
                  <a:tcPr/>
                </a:tc>
                <a:tc>
                  <a:txBody>
                    <a:bodyPr/>
                    <a:lstStyle/>
                    <a:p>
                      <a:pPr>
                        <a:defRPr sz="800">
                          <a:solidFill>
                            <a:srgbClr val="475569"/>
                          </a:solidFill>
                        </a:defRPr>
                      </a:pPr>
                      <a:r>
                        <a:t>Closed API contract review and published Kafka topic retention decision. Performance...</a:t>
                      </a:r>
                    </a:p>
                  </a:txBody>
                  <a:tcPr/>
                </a:tc>
              </a:tr>
              <a:tr h="896112">
                <a:tc>
                  <a:txBody>
                    <a:bodyPr/>
                    <a:lstStyle/>
                    <a:p>
                      <a:pPr>
                        <a:defRPr sz="800">
                          <a:solidFill>
                            <a:srgbClr val="0F172A"/>
                          </a:solidFill>
                        </a:defRPr>
                      </a:pPr>
                      <a:r>
                        <a:t>Nina Patel</a:t>
                      </a:r>
                    </a:p>
                  </a:txBody>
                  <a:tcPr/>
                </a:tc>
                <a:tc>
                  <a:txBody>
                    <a:bodyPr/>
                    <a:lstStyle/>
                    <a:p>
                      <a:pPr>
                        <a:defRPr sz="800">
                          <a:solidFill>
                            <a:srgbClr val="475569"/>
                          </a:solidFill>
                        </a:defRPr>
                      </a:pPr>
                      <a:r>
                        <a:t>Order Management Modernization</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Amber</a:t>
                      </a:r>
                    </a:p>
                  </a:txBody>
                  <a:tcPr/>
                </a:tc>
                <a:tc>
                  <a:txBody>
                    <a:bodyPr/>
                    <a:lstStyle/>
                    <a:p>
                      <a:pPr>
                        <a:defRPr sz="800">
                          <a:solidFill>
                            <a:srgbClr val="475569"/>
                          </a:solidFill>
                        </a:defRPr>
                      </a:pPr>
                      <a:r>
                        <a:t>78%</a:t>
                      </a:r>
                    </a:p>
                  </a:txBody>
                  <a:tcPr/>
                </a:tc>
                <a:tc>
                  <a:txBody>
                    <a:bodyPr/>
                    <a:lstStyle/>
                    <a:p>
                      <a:pPr>
                        <a:defRPr sz="800">
                          <a:solidFill>
                            <a:srgbClr val="475569"/>
                          </a:solidFill>
                        </a:defRPr>
                      </a:pPr>
                      <a:r>
                        <a:t>UAT test pack is 65% executed. Six high-priority defects remain open, with three...</a:t>
                      </a:r>
                    </a:p>
                  </a:txBody>
                  <a:tcPr/>
                </a:tc>
              </a:tr>
              <a:tr h="896112">
                <a:tc>
                  <a:txBody>
                    <a:bodyPr/>
                    <a:lstStyle/>
                    <a:p>
                      <a:pPr>
                        <a:defRPr sz="800">
                          <a:solidFill>
                            <a:srgbClr val="0F172A"/>
                          </a:solidFill>
                        </a:defRPr>
                      </a:pPr>
                      <a:r>
                        <a:t>Marcus Lee</a:t>
                      </a:r>
                    </a:p>
                  </a:txBody>
                  <a:tcPr/>
                </a:tc>
                <a:tc>
                  <a:txBody>
                    <a:bodyPr/>
                    <a:lstStyle/>
                    <a:p>
                      <a:pPr>
                        <a:defRPr sz="800">
                          <a:solidFill>
                            <a:srgbClr val="475569"/>
                          </a:solidFill>
                        </a:defRPr>
                      </a:pPr>
                      <a:r>
                        <a:t>Order Management Modernization</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Amber</a:t>
                      </a:r>
                    </a:p>
                  </a:txBody>
                  <a:tcPr/>
                </a:tc>
                <a:tc>
                  <a:txBody>
                    <a:bodyPr/>
                    <a:lstStyle/>
                    <a:p>
                      <a:pPr>
                        <a:defRPr sz="800">
                          <a:solidFill>
                            <a:srgbClr val="475569"/>
                          </a:solidFill>
                        </a:defRPr>
                      </a:pPr>
                      <a:r>
                        <a:t>81%</a:t>
                      </a:r>
                    </a:p>
                  </a:txBody>
                  <a:tcPr/>
                </a:tc>
                <a:tc>
                  <a:txBody>
                    <a:bodyPr/>
                    <a:lstStyle/>
                    <a:p>
                      <a:pPr>
                        <a:defRPr sz="800">
                          <a:solidFill>
                            <a:srgbClr val="475569"/>
                          </a:solidFill>
                        </a:defRPr>
                      </a:pPr>
                      <a:r>
                        <a:t>Sprint 11 remains within budget tolerance. Peak-season readiness is achievable if two...</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Risks, Decisions, Next Actions</a:t>
            </a:r>
          </a:p>
        </p:txBody>
      </p:sp>
      <p:sp>
        <p:nvSpPr>
          <p:cNvPr id="3" name="TextBox 2"/>
          <p:cNvSpPr txBox="1"/>
          <p:nvPr/>
        </p:nvSpPr>
        <p:spPr>
          <a:xfrm>
            <a:off x="594360" y="960120"/>
            <a:ext cx="1920240" cy="228600"/>
          </a:xfrm>
          <a:prstGeom prst="rect">
            <a:avLst/>
          </a:prstGeom>
          <a:noFill/>
        </p:spPr>
        <p:txBody>
          <a:bodyPr wrap="square" lIns="54864" rIns="54864">
            <a:spAutoFit/>
          </a:bodyPr>
          <a:lstStyle/>
          <a:p>
            <a:pPr>
              <a:defRPr sz="1000" b="1">
                <a:solidFill>
                  <a:srgbClr val="1D4ED8"/>
                </a:solidFill>
              </a:defRPr>
            </a:pPr>
            <a:r>
              <a:t>Order Management Modernization</a:t>
            </a:r>
          </a:p>
        </p:txBody>
      </p:sp>
      <p:sp>
        <p:nvSpPr>
          <p:cNvPr id="4" name="TextBox 3"/>
          <p:cNvSpPr txBox="1"/>
          <p:nvPr/>
        </p:nvSpPr>
        <p:spPr>
          <a:xfrm>
            <a:off x="2514600" y="960120"/>
            <a:ext cx="6126480" cy="502920"/>
          </a:xfrm>
          <a:prstGeom prst="rect">
            <a:avLst/>
          </a:prstGeom>
          <a:noFill/>
        </p:spPr>
        <p:txBody>
          <a:bodyPr wrap="square" lIns="54864" rIns="54864">
            <a:spAutoFit/>
          </a:bodyPr>
          <a:lstStyle/>
          <a:p>
            <a:pPr>
              <a:defRPr sz="1000" b="0">
                <a:solidFill>
                  <a:srgbClr val="475569"/>
                </a:solidFill>
              </a:defRPr>
            </a:pPr>
            <a:r>
              <a:t>Risk: Security approval delay can block production-readiness sign-off.</a:t>
            </a:r>
          </a:p>
          <a:p>
            <a:pPr>
              <a:defRPr sz="1000" b="0">
                <a:solidFill>
                  <a:srgbClr val="475569"/>
                </a:solidFill>
              </a:defRPr>
            </a:pPr>
            <a:r>
              <a:t>Action: Director to secure client security decision by Wednesday governance call.</a:t>
            </a:r>
          </a:p>
        </p:txBody>
      </p:sp>
      <p:sp>
        <p:nvSpPr>
          <p:cNvPr id="5" name="TextBox 4"/>
          <p:cNvSpPr txBox="1"/>
          <p:nvPr/>
        </p:nvSpPr>
        <p:spPr>
          <a:xfrm>
            <a:off x="594360" y="1645920"/>
            <a:ext cx="1920240" cy="228600"/>
          </a:xfrm>
          <a:prstGeom prst="rect">
            <a:avLst/>
          </a:prstGeom>
          <a:noFill/>
        </p:spPr>
        <p:txBody>
          <a:bodyPr wrap="square" lIns="54864" rIns="54864">
            <a:spAutoFit/>
          </a:bodyPr>
          <a:lstStyle/>
          <a:p>
            <a:pPr>
              <a:defRPr sz="1000" b="1">
                <a:solidFill>
                  <a:srgbClr val="1D4ED8"/>
                </a:solidFill>
              </a:defRPr>
            </a:pPr>
            <a:r>
              <a:t>Order Management Modernization</a:t>
            </a:r>
          </a:p>
        </p:txBody>
      </p:sp>
      <p:sp>
        <p:nvSpPr>
          <p:cNvPr id="6" name="TextBox 5"/>
          <p:cNvSpPr txBox="1"/>
          <p:nvPr/>
        </p:nvSpPr>
        <p:spPr>
          <a:xfrm>
            <a:off x="2514600" y="1645920"/>
            <a:ext cx="6126480" cy="502920"/>
          </a:xfrm>
          <a:prstGeom prst="rect">
            <a:avLst/>
          </a:prstGeom>
          <a:noFill/>
        </p:spPr>
        <p:txBody>
          <a:bodyPr wrap="square" lIns="54864" rIns="54864">
            <a:spAutoFit/>
          </a:bodyPr>
          <a:lstStyle/>
          <a:p>
            <a:pPr>
              <a:defRPr sz="1000" b="0">
                <a:solidFill>
                  <a:srgbClr val="475569"/>
                </a:solidFill>
              </a:defRPr>
            </a:pPr>
            <a:r>
              <a:t>Risk: Open defect ageing may compress the final regression window.</a:t>
            </a:r>
          </a:p>
          <a:p>
            <a:pPr>
              <a:defRPr sz="1000" b="0">
                <a:solidFill>
                  <a:srgbClr val="475569"/>
                </a:solidFill>
              </a:defRPr>
            </a:pPr>
            <a:r>
              <a:t>Action: Set daily defect triage with client product owner until UAT exit.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