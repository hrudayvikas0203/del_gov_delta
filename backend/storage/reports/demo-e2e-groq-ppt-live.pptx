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2400" b="1">
                <a:solidFill>
                  <a:srgbClr val="0F172A"/>
                </a:solidFill>
              </a:defRPr>
            </a:pPr>
            <a:r>
              <a:t>Client Weekly Delivery Status - Checkout Modernization</a:t>
            </a:r>
          </a:p>
        </p:txBody>
      </p:sp>
      <p:sp>
        <p:nvSpPr>
          <p:cNvPr id="3" name="Subtitle 2"/>
          <p:cNvSpPr>
            <a:spLocks noGrp="1"/>
          </p:cNvSpPr>
          <p:nvPr>
            <p:ph type="subTitle" idx="1"/>
          </p:nvPr>
        </p:nvSpPr>
        <p:spPr/>
        <p:txBody>
          <a:bodyPr/>
          <a:lstStyle/>
          <a:p>
            <a:r>
              <a:t>AI-assisted delivery governance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solidFill>
                  <a:srgbClr val="0F172A"/>
                </a:solidFill>
              </a:defRPr>
            </a:pPr>
            <a:r>
              <a:t>Executive Delivery Summary</a:t>
            </a:r>
          </a:p>
        </p:txBody>
      </p:sp>
      <p:sp>
        <p:nvSpPr>
          <p:cNvPr id="3" name="TextBox 2"/>
          <p:cNvSpPr txBox="1"/>
          <p:nvPr/>
        </p:nvSpPr>
        <p:spPr>
          <a:xfrm>
            <a:off x="594360" y="960120"/>
            <a:ext cx="8138160" cy="1325880"/>
          </a:xfrm>
          <a:prstGeom prst="rect">
            <a:avLst/>
          </a:prstGeom>
          <a:noFill/>
        </p:spPr>
        <p:txBody>
          <a:bodyPr wrap="square" lIns="54864" rIns="54864">
            <a:spAutoFit/>
          </a:bodyPr>
          <a:lstStyle/>
          <a:p>
            <a:pPr>
              <a:defRPr sz="1400" b="0">
                <a:solidFill>
                  <a:srgbClr val="0F172A"/>
                </a:solidFill>
              </a:defRPr>
            </a:pPr>
            <a:r>
              <a:t>The Checkout Modernization project is currently 72% complete, with two key blockers identified. Our risk posture is moderate, driven by dependencies on external systems and pending product owner confirmation. To mitigate these risks, we recommend two leadership actions: firstly, expedite confirmation of tax calculation acceptance criteria to prevent downstream delays, and secondly, collaborate with the PSP sandbox team to resolve intermittent timeout issues impacting payment retry API validation. These actions will ensure the project remains on track to meet its objectives.</a:t>
            </a:r>
          </a:p>
        </p:txBody>
      </p:sp>
      <p:sp>
        <p:nvSpPr>
          <p:cNvPr id="4" name="TextBox 3"/>
          <p:cNvSpPr txBox="1"/>
          <p:nvPr/>
        </p:nvSpPr>
        <p:spPr>
          <a:xfrm>
            <a:off x="594360" y="685800"/>
            <a:ext cx="7955279" cy="228600"/>
          </a:xfrm>
          <a:prstGeom prst="rect">
            <a:avLst/>
          </a:prstGeom>
          <a:noFill/>
        </p:spPr>
        <p:txBody>
          <a:bodyPr wrap="square" lIns="54864" rIns="54864">
            <a:spAutoFit/>
          </a:bodyPr>
          <a:lstStyle/>
          <a:p>
            <a:pPr>
              <a:defRPr sz="1000" b="1">
                <a:solidFill>
                  <a:srgbClr val="1D4ED8"/>
                </a:solidFill>
              </a:defRPr>
            </a:pPr>
            <a:r>
              <a:t>Scope: project:proj-checkout-modernization</a:t>
            </a:r>
          </a:p>
        </p:txBody>
      </p:sp>
      <p:sp>
        <p:nvSpPr>
          <p:cNvPr id="5" name="TextBox 4"/>
          <p:cNvSpPr txBox="1"/>
          <p:nvPr/>
        </p:nvSpPr>
        <p:spPr>
          <a:xfrm>
            <a:off x="685800" y="2606040"/>
            <a:ext cx="7680960" cy="1234440"/>
          </a:xfrm>
          <a:prstGeom prst="rect">
            <a:avLst/>
          </a:prstGeom>
          <a:noFill/>
        </p:spPr>
        <p:txBody>
          <a:bodyPr wrap="square" lIns="54864" rIns="54864">
            <a:spAutoFit/>
          </a:bodyPr>
          <a:lstStyle/>
          <a:p>
            <a:pPr>
              <a:defRPr sz="1200" b="0">
                <a:solidFill>
                  <a:srgbClr val="475569"/>
                </a:solidFill>
              </a:defRPr>
            </a:pPr>
            <a:r>
              <a:t>Leadership Actions</a:t>
            </a:r>
          </a:p>
          <a:p>
            <a:pPr>
              <a:defRPr sz="1200" b="0">
                <a:solidFill>
                  <a:srgbClr val="475569"/>
                </a:solidFill>
              </a:defRPr>
            </a:pPr>
            <a:r>
              <a:t>- Escalate PSP support ticket and agree workaround for timeout simulations.</a:t>
            </a:r>
          </a:p>
          <a:p>
            <a:pPr>
              <a:defRPr sz="1200" b="0">
                <a:solidFill>
                  <a:srgbClr val="475569"/>
                </a:solidFill>
              </a:defRPr>
            </a:pPr>
            <a:r>
              <a:t>- Schedule product owner decision review and freeze UAT entry criteria.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solidFill>
                  <a:srgbClr val="0F172A"/>
                </a:solidFill>
              </a:defRPr>
            </a:pPr>
            <a:r>
              <a:t>Delivery Status Dashboard</a:t>
            </a:r>
          </a:p>
        </p:txBody>
      </p:sp>
      <p:sp>
        <p:nvSpPr>
          <p:cNvPr id="3" name="Rounded Rectangle 2"/>
          <p:cNvSpPr/>
          <p:nvPr/>
        </p:nvSpPr>
        <p:spPr>
          <a:xfrm>
            <a:off x="411480"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1D4ED8"/>
                </a:solidFill>
              </a:defRPr>
            </a:pPr>
            <a:r>
              <a:t>1</a:t>
            </a:r>
          </a:p>
          <a:p>
            <a:pPr>
              <a:defRPr sz="800" b="1">
                <a:solidFill>
                  <a:srgbClr val="475569"/>
                </a:solidFill>
              </a:defRPr>
            </a:pPr>
            <a:r>
              <a:t>Projects</a:t>
            </a:r>
          </a:p>
        </p:txBody>
      </p:sp>
      <p:sp>
        <p:nvSpPr>
          <p:cNvPr id="4" name="Rounded Rectangle 3"/>
          <p:cNvSpPr/>
          <p:nvPr/>
        </p:nvSpPr>
        <p:spPr>
          <a:xfrm>
            <a:off x="2130552"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1D4ED8"/>
                </a:solidFill>
              </a:defRPr>
            </a:pPr>
            <a:r>
              <a:t>4</a:t>
            </a:r>
          </a:p>
          <a:p>
            <a:pPr>
              <a:defRPr sz="800" b="1">
                <a:solidFill>
                  <a:srgbClr val="475569"/>
                </a:solidFill>
              </a:defRPr>
            </a:pPr>
            <a:r>
              <a:t>Updates</a:t>
            </a:r>
          </a:p>
        </p:txBody>
      </p:sp>
      <p:sp>
        <p:nvSpPr>
          <p:cNvPr id="5" name="Rounded Rectangle 4"/>
          <p:cNvSpPr/>
          <p:nvPr/>
        </p:nvSpPr>
        <p:spPr>
          <a:xfrm>
            <a:off x="3849624"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16A34A"/>
                </a:solidFill>
              </a:defRPr>
            </a:pPr>
            <a:r>
              <a:t>1</a:t>
            </a:r>
          </a:p>
          <a:p>
            <a:pPr>
              <a:defRPr sz="800" b="1">
                <a:solidFill>
                  <a:srgbClr val="475569"/>
                </a:solidFill>
              </a:defRPr>
            </a:pPr>
            <a:r>
              <a:t>Approved</a:t>
            </a:r>
          </a:p>
        </p:txBody>
      </p:sp>
      <p:sp>
        <p:nvSpPr>
          <p:cNvPr id="6" name="Rounded Rectangle 5"/>
          <p:cNvSpPr/>
          <p:nvPr/>
        </p:nvSpPr>
        <p:spPr>
          <a:xfrm>
            <a:off x="5568696"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DC2626"/>
                </a:solidFill>
              </a:defRPr>
            </a:pPr>
            <a:r>
              <a:t>2</a:t>
            </a:r>
          </a:p>
          <a:p>
            <a:pPr>
              <a:defRPr sz="800" b="1">
                <a:solidFill>
                  <a:srgbClr val="475569"/>
                </a:solidFill>
              </a:defRPr>
            </a:pPr>
            <a:r>
              <a:t>Blocked</a:t>
            </a:r>
          </a:p>
        </p:txBody>
      </p:sp>
      <p:sp>
        <p:nvSpPr>
          <p:cNvPr id="7" name="Rounded Rectangle 6"/>
          <p:cNvSpPr/>
          <p:nvPr/>
        </p:nvSpPr>
        <p:spPr>
          <a:xfrm>
            <a:off x="7287768"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16A34A"/>
                </a:solidFill>
              </a:defRPr>
            </a:pPr>
            <a:r>
              <a:t>72%</a:t>
            </a:r>
          </a:p>
          <a:p>
            <a:pPr>
              <a:defRPr sz="800" b="1">
                <a:solidFill>
                  <a:srgbClr val="475569"/>
                </a:solidFill>
              </a:defRPr>
            </a:pPr>
            <a:r>
              <a:t>Avg Complete</a:t>
            </a:r>
          </a:p>
        </p:txBody>
      </p:sp>
      <p:sp>
        <p:nvSpPr>
          <p:cNvPr id="8" name="TextBox 7"/>
          <p:cNvSpPr txBox="1"/>
          <p:nvPr/>
        </p:nvSpPr>
        <p:spPr>
          <a:xfrm>
            <a:off x="640080" y="2057400"/>
            <a:ext cx="2286000" cy="274320"/>
          </a:xfrm>
          <a:prstGeom prst="rect">
            <a:avLst/>
          </a:prstGeom>
          <a:noFill/>
        </p:spPr>
        <p:txBody>
          <a:bodyPr wrap="square" lIns="54864" rIns="54864">
            <a:spAutoFit/>
          </a:bodyPr>
          <a:lstStyle/>
          <a:p>
            <a:pPr>
              <a:defRPr sz="1300" b="1">
                <a:solidFill>
                  <a:srgbClr val="0F172A"/>
                </a:solidFill>
              </a:defRPr>
            </a:pPr>
            <a:r>
              <a:t>Health Distribution</a:t>
            </a:r>
          </a:p>
        </p:txBody>
      </p:sp>
      <p:sp>
        <p:nvSpPr>
          <p:cNvPr id="9" name="TextBox 8"/>
          <p:cNvSpPr txBox="1"/>
          <p:nvPr/>
        </p:nvSpPr>
        <p:spPr>
          <a:xfrm>
            <a:off x="685800" y="2514600"/>
            <a:ext cx="777240" cy="201168"/>
          </a:xfrm>
          <a:prstGeom prst="rect">
            <a:avLst/>
          </a:prstGeom>
          <a:noFill/>
        </p:spPr>
        <p:txBody>
          <a:bodyPr wrap="square" lIns="54864" rIns="54864">
            <a:spAutoFit/>
          </a:bodyPr>
          <a:lstStyle/>
          <a:p>
            <a:pPr>
              <a:defRPr sz="900" b="1">
                <a:solidFill>
                  <a:srgbClr val="475569"/>
                </a:solidFill>
              </a:defRPr>
            </a:pPr>
            <a:r>
              <a:t>Green</a:t>
            </a:r>
          </a:p>
        </p:txBody>
      </p:sp>
      <p:sp>
        <p:nvSpPr>
          <p:cNvPr id="10" name="Rectangle 9"/>
          <p:cNvSpPr/>
          <p:nvPr/>
        </p:nvSpPr>
        <p:spPr>
          <a:xfrm>
            <a:off x="1417320" y="2514600"/>
            <a:ext cx="3794759" cy="201168"/>
          </a:xfrm>
          <a:prstGeom prst="rect">
            <a:avLst/>
          </a:prstGeom>
          <a:solidFill>
            <a:srgbClr val="16A34A"/>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2514600"/>
            <a:ext cx="411480" cy="201168"/>
          </a:xfrm>
          <a:prstGeom prst="rect">
            <a:avLst/>
          </a:prstGeom>
          <a:noFill/>
        </p:spPr>
        <p:txBody>
          <a:bodyPr wrap="square" lIns="54864" rIns="54864">
            <a:spAutoFit/>
          </a:bodyPr>
          <a:lstStyle/>
          <a:p>
            <a:pPr>
              <a:defRPr sz="900" b="1">
                <a:solidFill>
                  <a:srgbClr val="475569"/>
                </a:solidFill>
              </a:defRPr>
            </a:pPr>
            <a:r>
              <a:t>2</a:t>
            </a:r>
          </a:p>
        </p:txBody>
      </p:sp>
      <p:sp>
        <p:nvSpPr>
          <p:cNvPr id="12" name="TextBox 11"/>
          <p:cNvSpPr txBox="1"/>
          <p:nvPr/>
        </p:nvSpPr>
        <p:spPr>
          <a:xfrm>
            <a:off x="685800" y="2953512"/>
            <a:ext cx="777240" cy="201168"/>
          </a:xfrm>
          <a:prstGeom prst="rect">
            <a:avLst/>
          </a:prstGeom>
          <a:noFill/>
        </p:spPr>
        <p:txBody>
          <a:bodyPr wrap="square" lIns="54864" rIns="54864">
            <a:spAutoFit/>
          </a:bodyPr>
          <a:lstStyle/>
          <a:p>
            <a:pPr>
              <a:defRPr sz="900" b="1">
                <a:solidFill>
                  <a:srgbClr val="475569"/>
                </a:solidFill>
              </a:defRPr>
            </a:pPr>
            <a:r>
              <a:t>Amber</a:t>
            </a:r>
          </a:p>
        </p:txBody>
      </p:sp>
      <p:sp>
        <p:nvSpPr>
          <p:cNvPr id="13" name="Rectangle 12"/>
          <p:cNvSpPr/>
          <p:nvPr/>
        </p:nvSpPr>
        <p:spPr>
          <a:xfrm>
            <a:off x="1417320" y="2953512"/>
            <a:ext cx="3794759" cy="201168"/>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2953512"/>
            <a:ext cx="411480" cy="201168"/>
          </a:xfrm>
          <a:prstGeom prst="rect">
            <a:avLst/>
          </a:prstGeom>
          <a:noFill/>
        </p:spPr>
        <p:txBody>
          <a:bodyPr wrap="square" lIns="54864" rIns="54864">
            <a:spAutoFit/>
          </a:bodyPr>
          <a:lstStyle/>
          <a:p>
            <a:pPr>
              <a:defRPr sz="900" b="1">
                <a:solidFill>
                  <a:srgbClr val="475569"/>
                </a:solidFill>
              </a:defRPr>
            </a:pPr>
            <a:r>
              <a:t>2</a:t>
            </a:r>
          </a:p>
        </p:txBody>
      </p:sp>
      <p:sp>
        <p:nvSpPr>
          <p:cNvPr id="15" name="TextBox 14"/>
          <p:cNvSpPr txBox="1"/>
          <p:nvPr/>
        </p:nvSpPr>
        <p:spPr>
          <a:xfrm>
            <a:off x="685800" y="3392424"/>
            <a:ext cx="777240" cy="201168"/>
          </a:xfrm>
          <a:prstGeom prst="rect">
            <a:avLst/>
          </a:prstGeom>
          <a:noFill/>
        </p:spPr>
        <p:txBody>
          <a:bodyPr wrap="square" lIns="54864" rIns="54864">
            <a:spAutoFit/>
          </a:bodyPr>
          <a:lstStyle/>
          <a:p>
            <a:pPr>
              <a:defRPr sz="900" b="1">
                <a:solidFill>
                  <a:srgbClr val="475569"/>
                </a:solidFill>
              </a:defRPr>
            </a:pPr>
            <a:r>
              <a:t>Red</a:t>
            </a:r>
          </a:p>
        </p:txBody>
      </p:sp>
      <p:sp>
        <p:nvSpPr>
          <p:cNvPr id="16" name="Rectangle 15"/>
          <p:cNvSpPr/>
          <p:nvPr/>
        </p:nvSpPr>
        <p:spPr>
          <a:xfrm>
            <a:off x="1417320" y="3392424"/>
            <a:ext cx="320040" cy="20116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3392424"/>
            <a:ext cx="411480" cy="201168"/>
          </a:xfrm>
          <a:prstGeom prst="rect">
            <a:avLst/>
          </a:prstGeom>
          <a:noFill/>
        </p:spPr>
        <p:txBody>
          <a:bodyPr wrap="square" lIns="54864" rIns="54864">
            <a:spAutoFit/>
          </a:bodyPr>
          <a:lstStyle/>
          <a:p>
            <a:pPr>
              <a:defRPr sz="900" b="1">
                <a:solidFill>
                  <a:srgbClr val="475569"/>
                </a:solidFill>
              </a:defRPr>
            </a:pPr>
            <a:r>
              <a:t>0</a:t>
            </a:r>
          </a:p>
        </p:txBody>
      </p:sp>
      <p:sp>
        <p:nvSpPr>
          <p:cNvPr id="18" name="TextBox 17"/>
          <p:cNvSpPr txBox="1"/>
          <p:nvPr/>
        </p:nvSpPr>
        <p:spPr>
          <a:xfrm>
            <a:off x="5715000" y="2148840"/>
            <a:ext cx="2743200" cy="1463040"/>
          </a:xfrm>
          <a:prstGeom prst="rect">
            <a:avLst/>
          </a:prstGeom>
          <a:noFill/>
        </p:spPr>
        <p:txBody>
          <a:bodyPr wrap="square" lIns="54864" rIns="54864">
            <a:spAutoFit/>
          </a:bodyPr>
          <a:lstStyle/>
          <a:p>
            <a:pPr>
              <a:defRPr sz="1100" b="0">
                <a:solidFill>
                  <a:srgbClr val="475569"/>
                </a:solidFill>
              </a:defRPr>
            </a:pPr>
            <a:r>
              <a:t>Interpretation</a:t>
            </a:r>
          </a:p>
          <a:p>
            <a:pPr>
              <a:defRPr sz="1100" b="0">
                <a:solidFill>
                  <a:srgbClr val="475569"/>
                </a:solidFill>
              </a:defRPr>
            </a:pPr>
            <a:r>
              <a:t>Green indicates on-track execution. Amber requires management follow-up. Red or blocker-backed items should be treated as escalation candidates for the next governance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solidFill>
                  <a:srgbClr val="0F172A"/>
                </a:solidFill>
              </a:defRPr>
            </a:pPr>
            <a:r>
              <a:t>Team Status Detail</a:t>
            </a:r>
          </a:p>
        </p:txBody>
      </p:sp>
      <p:graphicFrame>
        <p:nvGraphicFramePr>
          <p:cNvPr id="3" name="Table 2"/>
          <p:cNvGraphicFramePr>
            <a:graphicFrameLocks noGrp="1"/>
          </p:cNvGraphicFramePr>
          <p:nvPr/>
        </p:nvGraphicFramePr>
        <p:xfrm>
          <a:off x="228600" y="960120"/>
          <a:ext cx="8686800" cy="4480560"/>
        </p:xfrm>
        <a:graphic>
          <a:graphicData uri="http://schemas.openxmlformats.org/drawingml/2006/table">
            <a:tbl>
              <a:tblPr firstRow="1" bandRow="1">
                <a:tableStyleId>{5C22544A-7EE6-4342-B048-85BDC9FD1C3A}</a:tableStyleId>
              </a:tblPr>
              <a:tblGrid>
                <a:gridCol w="1447800"/>
                <a:gridCol w="1447800"/>
                <a:gridCol w="1447800"/>
                <a:gridCol w="1447800"/>
                <a:gridCol w="1447800"/>
                <a:gridCol w="1447800"/>
              </a:tblGrid>
              <a:tr h="896112">
                <a:tc>
                  <a:txBody>
                    <a:bodyPr/>
                    <a:lstStyle/>
                    <a:p>
                      <a:pPr>
                        <a:defRPr b="1" sz="900">
                          <a:solidFill>
                            <a:srgbClr val="FFFFFF"/>
                          </a:solidFill>
                        </a:defRPr>
                      </a:pPr>
                      <a:r>
                        <a:t>Person</a:t>
                      </a:r>
                    </a:p>
                  </a:txBody>
                  <a:tcPr>
                    <a:solidFill>
                      <a:srgbClr val="0F172A"/>
                    </a:solidFill>
                  </a:tcPr>
                </a:tc>
                <a:tc>
                  <a:txBody>
                    <a:bodyPr/>
                    <a:lstStyle/>
                    <a:p>
                      <a:pPr>
                        <a:defRPr b="1" sz="900">
                          <a:solidFill>
                            <a:srgbClr val="FFFFFF"/>
                          </a:solidFill>
                        </a:defRPr>
                      </a:pPr>
                      <a:r>
                        <a:t>Project</a:t>
                      </a:r>
                    </a:p>
                  </a:txBody>
                  <a:tcPr>
                    <a:solidFill>
                      <a:srgbClr val="0F172A"/>
                    </a:solidFill>
                  </a:tcPr>
                </a:tc>
                <a:tc>
                  <a:txBody>
                    <a:bodyPr/>
                    <a:lstStyle/>
                    <a:p>
                      <a:pPr>
                        <a:defRPr b="1" sz="900">
                          <a:solidFill>
                            <a:srgbClr val="FFFFFF"/>
                          </a:solidFill>
                        </a:defRPr>
                      </a:pPr>
                      <a:r>
                        <a:t>Period</a:t>
                      </a:r>
                    </a:p>
                  </a:txBody>
                  <a:tcPr>
                    <a:solidFill>
                      <a:srgbClr val="0F172A"/>
                    </a:solidFill>
                  </a:tcPr>
                </a:tc>
                <a:tc>
                  <a:txBody>
                    <a:bodyPr/>
                    <a:lstStyle/>
                    <a:p>
                      <a:pPr>
                        <a:defRPr b="1" sz="900">
                          <a:solidFill>
                            <a:srgbClr val="FFFFFF"/>
                          </a:solidFill>
                        </a:defRPr>
                      </a:pPr>
                      <a:r>
                        <a:t>Health</a:t>
                      </a:r>
                    </a:p>
                  </a:txBody>
                  <a:tcPr>
                    <a:solidFill>
                      <a:srgbClr val="0F172A"/>
                    </a:solidFill>
                  </a:tcPr>
                </a:tc>
                <a:tc>
                  <a:txBody>
                    <a:bodyPr/>
                    <a:lstStyle/>
                    <a:p>
                      <a:pPr>
                        <a:defRPr b="1" sz="900">
                          <a:solidFill>
                            <a:srgbClr val="FFFFFF"/>
                          </a:solidFill>
                        </a:defRPr>
                      </a:pPr>
                      <a:r>
                        <a:t>Complete</a:t>
                      </a:r>
                    </a:p>
                  </a:txBody>
                  <a:tcPr>
                    <a:solidFill>
                      <a:srgbClr val="0F172A"/>
                    </a:solidFill>
                  </a:tcPr>
                </a:tc>
                <a:tc>
                  <a:txBody>
                    <a:bodyPr/>
                    <a:lstStyle/>
                    <a:p>
                      <a:pPr>
                        <a:defRPr b="1" sz="900">
                          <a:solidFill>
                            <a:srgbClr val="FFFFFF"/>
                          </a:solidFill>
                        </a:defRPr>
                      </a:pPr>
                      <a:r>
                        <a:t>Key Update</a:t>
                      </a:r>
                    </a:p>
                  </a:txBody>
                  <a:tcPr>
                    <a:solidFill>
                      <a:srgbClr val="0F172A"/>
                    </a:solidFill>
                  </a:tcPr>
                </a:tc>
              </a:tr>
              <a:tr h="896112">
                <a:tc>
                  <a:txBody>
                    <a:bodyPr/>
                    <a:lstStyle/>
                    <a:p>
                      <a:pPr>
                        <a:defRPr sz="800">
                          <a:solidFill>
                            <a:srgbClr val="0F172A"/>
                          </a:solidFill>
                        </a:defRPr>
                      </a:pPr>
                      <a:r>
                        <a:t>Anya Rao</a:t>
                      </a:r>
                    </a:p>
                  </a:txBody>
                  <a:tcPr/>
                </a:tc>
                <a:tc>
                  <a:txBody>
                    <a:bodyPr/>
                    <a:lstStyle/>
                    <a:p>
                      <a:pPr>
                        <a:defRPr sz="800">
                          <a:solidFill>
                            <a:srgbClr val="475569"/>
                          </a:solidFill>
                        </a:defRPr>
                      </a:pPr>
                      <a:r>
                        <a:t>Checkout Modernization Platform</a:t>
                      </a:r>
                    </a:p>
                  </a:txBody>
                  <a:tcPr/>
                </a:tc>
                <a:tc>
                  <a:txBody>
                    <a:bodyPr/>
                    <a:lstStyle/>
                    <a:p>
                      <a:pPr>
                        <a:defRPr sz="800">
                          <a:solidFill>
                            <a:srgbClr val="475569"/>
                          </a:solidFill>
                        </a:defRPr>
                      </a:pPr>
                      <a:r>
                        <a:t>20 Jul 2026</a:t>
                      </a:r>
                    </a:p>
                  </a:txBody>
                  <a:tcPr/>
                </a:tc>
                <a:tc>
                  <a:txBody>
                    <a:bodyPr/>
                    <a:lstStyle/>
                    <a:p>
                      <a:pPr>
                        <a:defRPr sz="800">
                          <a:solidFill>
                            <a:srgbClr val="475569"/>
                          </a:solidFill>
                        </a:defRPr>
                      </a:pPr>
                      <a:r>
                        <a:t>Green</a:t>
                      </a:r>
                    </a:p>
                  </a:txBody>
                  <a:tcPr/>
                </a:tc>
                <a:tc>
                  <a:txBody>
                    <a:bodyPr/>
                    <a:lstStyle/>
                    <a:p>
                      <a:pPr>
                        <a:defRPr sz="800">
                          <a:solidFill>
                            <a:srgbClr val="475569"/>
                          </a:solidFill>
                        </a:defRPr>
                      </a:pPr>
                      <a:r>
                        <a:t>78%</a:t>
                      </a:r>
                    </a:p>
                  </a:txBody>
                  <a:tcPr/>
                </a:tc>
                <a:tc>
                  <a:txBody>
                    <a:bodyPr/>
                    <a:lstStyle/>
                    <a:p>
                      <a:pPr>
                        <a:defRPr sz="800">
                          <a:solidFill>
                            <a:srgbClr val="475569"/>
                          </a:solidFill>
                        </a:defRPr>
                      </a:pPr>
                      <a:r>
                        <a:t>Completed wallet eligibility checks and improved checkout error handling. Feature flags...</a:t>
                      </a:r>
                    </a:p>
                  </a:txBody>
                  <a:tcPr/>
                </a:tc>
              </a:tr>
              <a:tr h="896112">
                <a:tc>
                  <a:txBody>
                    <a:bodyPr/>
                    <a:lstStyle/>
                    <a:p>
                      <a:pPr>
                        <a:defRPr sz="800">
                          <a:solidFill>
                            <a:srgbClr val="0F172A"/>
                          </a:solidFill>
                        </a:defRPr>
                      </a:pPr>
                      <a:r>
                        <a:t>Diego Martin</a:t>
                      </a:r>
                    </a:p>
                  </a:txBody>
                  <a:tcPr/>
                </a:tc>
                <a:tc>
                  <a:txBody>
                    <a:bodyPr/>
                    <a:lstStyle/>
                    <a:p>
                      <a:pPr>
                        <a:defRPr sz="800">
                          <a:solidFill>
                            <a:srgbClr val="475569"/>
                          </a:solidFill>
                        </a:defRPr>
                      </a:pPr>
                      <a:r>
                        <a:t>Checkout Modernization Platform</a:t>
                      </a:r>
                    </a:p>
                  </a:txBody>
                  <a:tcPr/>
                </a:tc>
                <a:tc>
                  <a:txBody>
                    <a:bodyPr/>
                    <a:lstStyle/>
                    <a:p>
                      <a:pPr>
                        <a:defRPr sz="800">
                          <a:solidFill>
                            <a:srgbClr val="475569"/>
                          </a:solidFill>
                        </a:defRPr>
                      </a:pPr>
                      <a:r>
                        <a:t>20 Jul 2026</a:t>
                      </a:r>
                    </a:p>
                  </a:txBody>
                  <a:tcPr/>
                </a:tc>
                <a:tc>
                  <a:txBody>
                    <a:bodyPr/>
                    <a:lstStyle/>
                    <a:p>
                      <a:pPr>
                        <a:defRPr sz="800">
                          <a:solidFill>
                            <a:srgbClr val="475569"/>
                          </a:solidFill>
                        </a:defRPr>
                      </a:pPr>
                      <a:r>
                        <a:t>Amber</a:t>
                      </a:r>
                    </a:p>
                  </a:txBody>
                  <a:tcPr/>
                </a:tc>
                <a:tc>
                  <a:txBody>
                    <a:bodyPr/>
                    <a:lstStyle/>
                    <a:p>
                      <a:pPr>
                        <a:defRPr sz="800">
                          <a:solidFill>
                            <a:srgbClr val="475569"/>
                          </a:solidFill>
                        </a:defRPr>
                      </a:pPr>
                      <a:r>
                        <a:t>68%</a:t>
                      </a:r>
                    </a:p>
                  </a:txBody>
                  <a:tcPr/>
                </a:tc>
                <a:tc>
                  <a:txBody>
                    <a:bodyPr/>
                    <a:lstStyle/>
                    <a:p>
                      <a:pPr>
                        <a:defRPr sz="800">
                          <a:solidFill>
                            <a:srgbClr val="475569"/>
                          </a:solidFill>
                        </a:defRPr>
                      </a:pPr>
                      <a:r>
                        <a:t>Delivered payment retry API and telemetry hooks. Integration tests are stable except...</a:t>
                      </a:r>
                    </a:p>
                  </a:txBody>
                  <a:tcPr/>
                </a:tc>
              </a:tr>
              <a:tr h="896112">
                <a:tc>
                  <a:txBody>
                    <a:bodyPr/>
                    <a:lstStyle/>
                    <a:p>
                      <a:pPr>
                        <a:defRPr sz="800">
                          <a:solidFill>
                            <a:srgbClr val="0F172A"/>
                          </a:solidFill>
                        </a:defRPr>
                      </a:pPr>
                      <a:r>
                        <a:t>Nina Patel</a:t>
                      </a:r>
                    </a:p>
                  </a:txBody>
                  <a:tcPr/>
                </a:tc>
                <a:tc>
                  <a:txBody>
                    <a:bodyPr/>
                    <a:lstStyle/>
                    <a:p>
                      <a:pPr>
                        <a:defRPr sz="800">
                          <a:solidFill>
                            <a:srgbClr val="475569"/>
                          </a:solidFill>
                        </a:defRPr>
                      </a:pPr>
                      <a:r>
                        <a:t>Checkout Modernization Platform</a:t>
                      </a:r>
                    </a:p>
                  </a:txBody>
                  <a:tcPr/>
                </a:tc>
                <a:tc>
                  <a:txBody>
                    <a:bodyPr/>
                    <a:lstStyle/>
                    <a:p>
                      <a:pPr>
                        <a:defRPr sz="800">
                          <a:solidFill>
                            <a:srgbClr val="475569"/>
                          </a:solidFill>
                        </a:defRPr>
                      </a:pPr>
                      <a:r>
                        <a:t>20 Jul 2026</a:t>
                      </a:r>
                    </a:p>
                  </a:txBody>
                  <a:tcPr/>
                </a:tc>
                <a:tc>
                  <a:txBody>
                    <a:bodyPr/>
                    <a:lstStyle/>
                    <a:p>
                      <a:pPr>
                        <a:defRPr sz="800">
                          <a:solidFill>
                            <a:srgbClr val="475569"/>
                          </a:solidFill>
                        </a:defRPr>
                      </a:pPr>
                      <a:r>
                        <a:t>Amber</a:t>
                      </a:r>
                    </a:p>
                  </a:txBody>
                  <a:tcPr/>
                </a:tc>
                <a:tc>
                  <a:txBody>
                    <a:bodyPr/>
                    <a:lstStyle/>
                    <a:p>
                      <a:pPr>
                        <a:defRPr sz="800">
                          <a:solidFill>
                            <a:srgbClr val="475569"/>
                          </a:solidFill>
                        </a:defRPr>
                      </a:pPr>
                      <a:r>
                        <a:t>70%</a:t>
                      </a:r>
                    </a:p>
                  </a:txBody>
                  <a:tcPr/>
                </a:tc>
                <a:tc>
                  <a:txBody>
                    <a:bodyPr/>
                    <a:lstStyle/>
                    <a:p>
                      <a:pPr>
                        <a:defRPr sz="800">
                          <a:solidFill>
                            <a:srgbClr val="475569"/>
                          </a:solidFill>
                        </a:defRPr>
                      </a:pPr>
                      <a:r>
                        <a:t>Completed regression plan, prioritized critical checkout journeys, and opened defects...</a:t>
                      </a:r>
                    </a:p>
                  </a:txBody>
                  <a:tcPr/>
                </a:tc>
              </a:tr>
              <a:tr h="896112">
                <a:tc>
                  <a:txBody>
                    <a:bodyPr/>
                    <a:lstStyle/>
                    <a:p>
                      <a:pPr>
                        <a:defRPr sz="800">
                          <a:solidFill>
                            <a:srgbClr val="0F172A"/>
                          </a:solidFill>
                        </a:defRPr>
                      </a:pPr>
                      <a:r>
                        <a:t>Marcus Lee</a:t>
                      </a:r>
                    </a:p>
                  </a:txBody>
                  <a:tcPr/>
                </a:tc>
                <a:tc>
                  <a:txBody>
                    <a:bodyPr/>
                    <a:lstStyle/>
                    <a:p>
                      <a:pPr>
                        <a:defRPr sz="800">
                          <a:solidFill>
                            <a:srgbClr val="475569"/>
                          </a:solidFill>
                        </a:defRPr>
                      </a:pPr>
                      <a:r>
                        <a:t>Checkout Modernization Platform</a:t>
                      </a:r>
                    </a:p>
                  </a:txBody>
                  <a:tcPr/>
                </a:tc>
                <a:tc>
                  <a:txBody>
                    <a:bodyPr/>
                    <a:lstStyle/>
                    <a:p>
                      <a:pPr>
                        <a:defRPr sz="800">
                          <a:solidFill>
                            <a:srgbClr val="475569"/>
                          </a:solidFill>
                        </a:defRPr>
                      </a:pPr>
                      <a:r>
                        <a:t>20 Jul 2026</a:t>
                      </a:r>
                    </a:p>
                  </a:txBody>
                  <a:tcPr/>
                </a:tc>
                <a:tc>
                  <a:txBody>
                    <a:bodyPr/>
                    <a:lstStyle/>
                    <a:p>
                      <a:pPr>
                        <a:defRPr sz="800">
                          <a:solidFill>
                            <a:srgbClr val="475569"/>
                          </a:solidFill>
                        </a:defRPr>
                      </a:pPr>
                      <a:r>
                        <a:t>Green</a:t>
                      </a:r>
                    </a:p>
                  </a:txBody>
                  <a:tcPr/>
                </a:tc>
                <a:tc>
                  <a:txBody>
                    <a:bodyPr/>
                    <a:lstStyle/>
                    <a:p>
                      <a:pPr>
                        <a:defRPr sz="800">
                          <a:solidFill>
                            <a:srgbClr val="475569"/>
                          </a:solidFill>
                        </a:defRPr>
                      </a:pPr>
                      <a:r>
                        <a:t>72%</a:t>
                      </a:r>
                    </a:p>
                  </a:txBody>
                  <a:tcPr/>
                </a:tc>
                <a:tc>
                  <a:txBody>
                    <a:bodyPr/>
                    <a:lstStyle/>
                    <a:p>
                      <a:pPr>
                        <a:defRPr sz="800">
                          <a:solidFill>
                            <a:srgbClr val="475569"/>
                          </a:solidFill>
                        </a:defRPr>
                      </a:pPr>
                      <a:r>
                        <a:t>Sprint 8 remains within budget. UAT readiness is progressing with two decision items...</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solidFill>
                  <a:srgbClr val="0F172A"/>
                </a:solidFill>
              </a:defRPr>
            </a:pPr>
            <a:r>
              <a:t>Risks, Decisions, Next Actions</a:t>
            </a:r>
          </a:p>
        </p:txBody>
      </p:sp>
      <p:sp>
        <p:nvSpPr>
          <p:cNvPr id="3" name="TextBox 2"/>
          <p:cNvSpPr txBox="1"/>
          <p:nvPr/>
        </p:nvSpPr>
        <p:spPr>
          <a:xfrm>
            <a:off x="594360" y="960120"/>
            <a:ext cx="1920240" cy="228600"/>
          </a:xfrm>
          <a:prstGeom prst="rect">
            <a:avLst/>
          </a:prstGeom>
          <a:noFill/>
        </p:spPr>
        <p:txBody>
          <a:bodyPr wrap="square" lIns="54864" rIns="54864">
            <a:spAutoFit/>
          </a:bodyPr>
          <a:lstStyle/>
          <a:p>
            <a:pPr>
              <a:defRPr sz="1000" b="1">
                <a:solidFill>
                  <a:srgbClr val="1D4ED8"/>
                </a:solidFill>
              </a:defRPr>
            </a:pPr>
            <a:r>
              <a:t>Checkout Modernization Platform</a:t>
            </a:r>
          </a:p>
        </p:txBody>
      </p:sp>
      <p:sp>
        <p:nvSpPr>
          <p:cNvPr id="4" name="TextBox 3"/>
          <p:cNvSpPr txBox="1"/>
          <p:nvPr/>
        </p:nvSpPr>
        <p:spPr>
          <a:xfrm>
            <a:off x="2514600" y="960120"/>
            <a:ext cx="6126480" cy="502920"/>
          </a:xfrm>
          <a:prstGeom prst="rect">
            <a:avLst/>
          </a:prstGeom>
          <a:noFill/>
        </p:spPr>
        <p:txBody>
          <a:bodyPr wrap="square" lIns="54864" rIns="54864">
            <a:spAutoFit/>
          </a:bodyPr>
          <a:lstStyle/>
          <a:p>
            <a:pPr>
              <a:defRPr sz="1000" b="0">
                <a:solidFill>
                  <a:srgbClr val="475569"/>
                </a:solidFill>
              </a:defRPr>
            </a:pPr>
            <a:r>
              <a:t>Risk: Timeline risk if PSP stability is not resolved before Sprint 9 hardening.</a:t>
            </a:r>
          </a:p>
          <a:p>
            <a:pPr>
              <a:defRPr sz="1000" b="0">
                <a:solidFill>
                  <a:srgbClr val="475569"/>
                </a:solidFill>
              </a:defRPr>
            </a:pPr>
            <a:r>
              <a:t>Action: Escalate PSP support ticket and agree workaround for timeout simulations.</a:t>
            </a:r>
          </a:p>
        </p:txBody>
      </p:sp>
      <p:sp>
        <p:nvSpPr>
          <p:cNvPr id="5" name="TextBox 4"/>
          <p:cNvSpPr txBox="1"/>
          <p:nvPr/>
        </p:nvSpPr>
        <p:spPr>
          <a:xfrm>
            <a:off x="594360" y="1645920"/>
            <a:ext cx="1920240" cy="228600"/>
          </a:xfrm>
          <a:prstGeom prst="rect">
            <a:avLst/>
          </a:prstGeom>
          <a:noFill/>
        </p:spPr>
        <p:txBody>
          <a:bodyPr wrap="square" lIns="54864" rIns="54864">
            <a:spAutoFit/>
          </a:bodyPr>
          <a:lstStyle/>
          <a:p>
            <a:pPr>
              <a:defRPr sz="1000" b="1">
                <a:solidFill>
                  <a:srgbClr val="1D4ED8"/>
                </a:solidFill>
              </a:defRPr>
            </a:pPr>
            <a:r>
              <a:t>Checkout Modernization Platform</a:t>
            </a:r>
          </a:p>
        </p:txBody>
      </p:sp>
      <p:sp>
        <p:nvSpPr>
          <p:cNvPr id="6" name="TextBox 5"/>
          <p:cNvSpPr txBox="1"/>
          <p:nvPr/>
        </p:nvSpPr>
        <p:spPr>
          <a:xfrm>
            <a:off x="2514600" y="1645920"/>
            <a:ext cx="6126480" cy="502920"/>
          </a:xfrm>
          <a:prstGeom prst="rect">
            <a:avLst/>
          </a:prstGeom>
          <a:noFill/>
        </p:spPr>
        <p:txBody>
          <a:bodyPr wrap="square" lIns="54864" rIns="54864">
            <a:spAutoFit/>
          </a:bodyPr>
          <a:lstStyle/>
          <a:p>
            <a:pPr>
              <a:defRPr sz="1000" b="0">
                <a:solidFill>
                  <a:srgbClr val="475569"/>
                </a:solidFill>
              </a:defRPr>
            </a:pPr>
            <a:r>
              <a:t>Risk: Defect closure may slip without product owner decision on rounding tolerance.</a:t>
            </a:r>
          </a:p>
          <a:p>
            <a:pPr>
              <a:defRPr sz="1000" b="0">
                <a:solidFill>
                  <a:srgbClr val="475569"/>
                </a:solidFill>
              </a:defRPr>
            </a:pPr>
            <a:r>
              <a:t>Action: Schedule product owner decision review and freeze UAT entry criteria.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