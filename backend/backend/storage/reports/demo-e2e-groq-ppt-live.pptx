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2400" b="1">
                <a:solidFill>
                  <a:srgbClr val="0F172A"/>
                </a:solidFill>
              </a:defRPr>
            </a:pPr>
            <a:r>
              <a:t>Client Weekly Delivery Status - Checkout Modernization</a:t>
            </a:r>
          </a:p>
        </p:txBody>
      </p:sp>
      <p:sp>
        <p:nvSpPr>
          <p:cNvPr id="3" name="Subtitle 2"/>
          <p:cNvSpPr>
            <a:spLocks noGrp="1"/>
          </p:cNvSpPr>
          <p:nvPr>
            <p:ph type="subTitle" idx="1"/>
          </p:nvPr>
        </p:nvSpPr>
        <p:spPr/>
        <p:txBody>
          <a:bodyPr/>
          <a:lstStyle/>
          <a:p>
            <a:r>
              <a:t>AI-assisted delivery governance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Executive Delivery Summary</a:t>
            </a:r>
          </a:p>
        </p:txBody>
      </p:sp>
      <p:sp>
        <p:nvSpPr>
          <p:cNvPr id="3" name="TextBox 2"/>
          <p:cNvSpPr txBox="1"/>
          <p:nvPr/>
        </p:nvSpPr>
        <p:spPr>
          <a:xfrm>
            <a:off x="594360" y="960120"/>
            <a:ext cx="8138160" cy="1325880"/>
          </a:xfrm>
          <a:prstGeom prst="rect">
            <a:avLst/>
          </a:prstGeom>
          <a:noFill/>
        </p:spPr>
        <p:txBody>
          <a:bodyPr wrap="square" lIns="54864" rIns="54864">
            <a:spAutoFit/>
          </a:bodyPr>
          <a:lstStyle/>
          <a:p>
            <a:pPr>
              <a:defRPr sz="1400" b="0">
                <a:solidFill>
                  <a:srgbClr val="0F172A"/>
                </a:solidFill>
              </a:defRPr>
            </a:pPr>
            <a:r>
              <a:t>The Checkout Modernization project is currently 72% complete, with two key blockers identified. Our risk posture is moderate, driven by dependencies on external systems and pending product owner confirmation. To ensure timely delivery, we recommend two leadership actions: (1) expedite confirmation of tax calculation acceptance criteria and (2) facilitate resolution of PSP sandbox timeout issues to enable comprehensive integration testing. By addressing these items, we can mitigate risks and maintain momentum on the project.</a:t>
            </a:r>
          </a:p>
        </p:txBody>
      </p:sp>
      <p:sp>
        <p:nvSpPr>
          <p:cNvPr id="4" name="TextBox 3"/>
          <p:cNvSpPr txBox="1"/>
          <p:nvPr/>
        </p:nvSpPr>
        <p:spPr>
          <a:xfrm>
            <a:off x="594360" y="685800"/>
            <a:ext cx="7955279" cy="228600"/>
          </a:xfrm>
          <a:prstGeom prst="rect">
            <a:avLst/>
          </a:prstGeom>
          <a:noFill/>
        </p:spPr>
        <p:txBody>
          <a:bodyPr wrap="square" lIns="54864" rIns="54864">
            <a:spAutoFit/>
          </a:bodyPr>
          <a:lstStyle/>
          <a:p>
            <a:pPr>
              <a:defRPr sz="1000" b="1">
                <a:solidFill>
                  <a:srgbClr val="1D4ED8"/>
                </a:solidFill>
              </a:defRPr>
            </a:pPr>
            <a:r>
              <a:t>Scope: project:proj-checkout-modernization</a:t>
            </a:r>
          </a:p>
        </p:txBody>
      </p:sp>
      <p:sp>
        <p:nvSpPr>
          <p:cNvPr id="5" name="TextBox 4"/>
          <p:cNvSpPr txBox="1"/>
          <p:nvPr/>
        </p:nvSpPr>
        <p:spPr>
          <a:xfrm>
            <a:off x="685800" y="2606040"/>
            <a:ext cx="7680960" cy="1234440"/>
          </a:xfrm>
          <a:prstGeom prst="rect">
            <a:avLst/>
          </a:prstGeom>
          <a:noFill/>
        </p:spPr>
        <p:txBody>
          <a:bodyPr wrap="square" lIns="54864" rIns="54864">
            <a:spAutoFit/>
          </a:bodyPr>
          <a:lstStyle/>
          <a:p>
            <a:pPr>
              <a:defRPr sz="1200" b="0">
                <a:solidFill>
                  <a:srgbClr val="475569"/>
                </a:solidFill>
              </a:defRPr>
            </a:pPr>
            <a:r>
              <a:t>Leadership Actions</a:t>
            </a:r>
          </a:p>
          <a:p>
            <a:pPr>
              <a:defRPr sz="1200" b="0">
                <a:solidFill>
                  <a:srgbClr val="475569"/>
                </a:solidFill>
              </a:defRPr>
            </a:pPr>
            <a:r>
              <a:t>- Escalate PSP support ticket and agree workaround for timeout simulations.</a:t>
            </a:r>
          </a:p>
          <a:p>
            <a:pPr>
              <a:defRPr sz="1200" b="0">
                <a:solidFill>
                  <a:srgbClr val="475569"/>
                </a:solidFill>
              </a:defRPr>
            </a:pPr>
            <a:r>
              <a:t>- Schedule product owner decision review and freeze UAT entry criteria.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Delivery Status Dashboard</a:t>
            </a:r>
          </a:p>
        </p:txBody>
      </p:sp>
      <p:sp>
        <p:nvSpPr>
          <p:cNvPr id="3" name="Rounded Rectangle 2"/>
          <p:cNvSpPr/>
          <p:nvPr/>
        </p:nvSpPr>
        <p:spPr>
          <a:xfrm>
            <a:off x="411480"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D4ED8"/>
                </a:solidFill>
              </a:defRPr>
            </a:pPr>
            <a:r>
              <a:t>1</a:t>
            </a:r>
          </a:p>
          <a:p>
            <a:pPr>
              <a:defRPr sz="800" b="1">
                <a:solidFill>
                  <a:srgbClr val="475569"/>
                </a:solidFill>
              </a:defRPr>
            </a:pPr>
            <a:r>
              <a:t>Projects</a:t>
            </a:r>
          </a:p>
        </p:txBody>
      </p:sp>
      <p:sp>
        <p:nvSpPr>
          <p:cNvPr id="4" name="Rounded Rectangle 3"/>
          <p:cNvSpPr/>
          <p:nvPr/>
        </p:nvSpPr>
        <p:spPr>
          <a:xfrm>
            <a:off x="2130552"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D4ED8"/>
                </a:solidFill>
              </a:defRPr>
            </a:pPr>
            <a:r>
              <a:t>4</a:t>
            </a:r>
          </a:p>
          <a:p>
            <a:pPr>
              <a:defRPr sz="800" b="1">
                <a:solidFill>
                  <a:srgbClr val="475569"/>
                </a:solidFill>
              </a:defRPr>
            </a:pPr>
            <a:r>
              <a:t>Updates</a:t>
            </a:r>
          </a:p>
        </p:txBody>
      </p:sp>
      <p:sp>
        <p:nvSpPr>
          <p:cNvPr id="5" name="Rounded Rectangle 4"/>
          <p:cNvSpPr/>
          <p:nvPr/>
        </p:nvSpPr>
        <p:spPr>
          <a:xfrm>
            <a:off x="3849624"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6A34A"/>
                </a:solidFill>
              </a:defRPr>
            </a:pPr>
            <a:r>
              <a:t>1</a:t>
            </a:r>
          </a:p>
          <a:p>
            <a:pPr>
              <a:defRPr sz="800" b="1">
                <a:solidFill>
                  <a:srgbClr val="475569"/>
                </a:solidFill>
              </a:defRPr>
            </a:pPr>
            <a:r>
              <a:t>Approved</a:t>
            </a:r>
          </a:p>
        </p:txBody>
      </p:sp>
      <p:sp>
        <p:nvSpPr>
          <p:cNvPr id="6" name="Rounded Rectangle 5"/>
          <p:cNvSpPr/>
          <p:nvPr/>
        </p:nvSpPr>
        <p:spPr>
          <a:xfrm>
            <a:off x="5568696"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DC2626"/>
                </a:solidFill>
              </a:defRPr>
            </a:pPr>
            <a:r>
              <a:t>2</a:t>
            </a:r>
          </a:p>
          <a:p>
            <a:pPr>
              <a:defRPr sz="800" b="1">
                <a:solidFill>
                  <a:srgbClr val="475569"/>
                </a:solidFill>
              </a:defRPr>
            </a:pPr>
            <a:r>
              <a:t>Blocked</a:t>
            </a:r>
          </a:p>
        </p:txBody>
      </p:sp>
      <p:sp>
        <p:nvSpPr>
          <p:cNvPr id="7" name="Rounded Rectangle 6"/>
          <p:cNvSpPr/>
          <p:nvPr/>
        </p:nvSpPr>
        <p:spPr>
          <a:xfrm>
            <a:off x="7287768" y="914400"/>
            <a:ext cx="1508760" cy="82296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lIns="73152" rIns="73152"/>
          <a:lstStyle/>
          <a:p>
            <a:pPr>
              <a:defRPr sz="1900" b="1">
                <a:solidFill>
                  <a:srgbClr val="16A34A"/>
                </a:solidFill>
              </a:defRPr>
            </a:pPr>
            <a:r>
              <a:t>72%</a:t>
            </a:r>
          </a:p>
          <a:p>
            <a:pPr>
              <a:defRPr sz="800" b="1">
                <a:solidFill>
                  <a:srgbClr val="475569"/>
                </a:solidFill>
              </a:defRPr>
            </a:pPr>
            <a:r>
              <a:t>Avg Complete</a:t>
            </a:r>
          </a:p>
        </p:txBody>
      </p:sp>
      <p:sp>
        <p:nvSpPr>
          <p:cNvPr id="8" name="TextBox 7"/>
          <p:cNvSpPr txBox="1"/>
          <p:nvPr/>
        </p:nvSpPr>
        <p:spPr>
          <a:xfrm>
            <a:off x="640080" y="2057400"/>
            <a:ext cx="2286000" cy="274320"/>
          </a:xfrm>
          <a:prstGeom prst="rect">
            <a:avLst/>
          </a:prstGeom>
          <a:noFill/>
        </p:spPr>
        <p:txBody>
          <a:bodyPr wrap="square" lIns="54864" rIns="54864">
            <a:spAutoFit/>
          </a:bodyPr>
          <a:lstStyle/>
          <a:p>
            <a:pPr>
              <a:defRPr sz="1300" b="1">
                <a:solidFill>
                  <a:srgbClr val="0F172A"/>
                </a:solidFill>
              </a:defRPr>
            </a:pPr>
            <a:r>
              <a:t>Health Distribution</a:t>
            </a:r>
          </a:p>
        </p:txBody>
      </p:sp>
      <p:sp>
        <p:nvSpPr>
          <p:cNvPr id="9" name="TextBox 8"/>
          <p:cNvSpPr txBox="1"/>
          <p:nvPr/>
        </p:nvSpPr>
        <p:spPr>
          <a:xfrm>
            <a:off x="685800" y="2514600"/>
            <a:ext cx="777240" cy="201168"/>
          </a:xfrm>
          <a:prstGeom prst="rect">
            <a:avLst/>
          </a:prstGeom>
          <a:noFill/>
        </p:spPr>
        <p:txBody>
          <a:bodyPr wrap="square" lIns="54864" rIns="54864">
            <a:spAutoFit/>
          </a:bodyPr>
          <a:lstStyle/>
          <a:p>
            <a:pPr>
              <a:defRPr sz="900" b="1">
                <a:solidFill>
                  <a:srgbClr val="475569"/>
                </a:solidFill>
              </a:defRPr>
            </a:pPr>
            <a:r>
              <a:t>Green</a:t>
            </a:r>
          </a:p>
        </p:txBody>
      </p:sp>
      <p:sp>
        <p:nvSpPr>
          <p:cNvPr id="10" name="Rectangle 9"/>
          <p:cNvSpPr/>
          <p:nvPr/>
        </p:nvSpPr>
        <p:spPr>
          <a:xfrm>
            <a:off x="1417320" y="2514600"/>
            <a:ext cx="3794759" cy="201168"/>
          </a:xfrm>
          <a:prstGeom prst="rect">
            <a:avLst/>
          </a:prstGeom>
          <a:solidFill>
            <a:srgbClr val="16A34A"/>
          </a:solidFill>
          <a:ln>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2514600"/>
            <a:ext cx="411480" cy="201168"/>
          </a:xfrm>
          <a:prstGeom prst="rect">
            <a:avLst/>
          </a:prstGeom>
          <a:noFill/>
        </p:spPr>
        <p:txBody>
          <a:bodyPr wrap="square" lIns="54864" rIns="54864">
            <a:spAutoFit/>
          </a:bodyPr>
          <a:lstStyle/>
          <a:p>
            <a:pPr>
              <a:defRPr sz="900" b="1">
                <a:solidFill>
                  <a:srgbClr val="475569"/>
                </a:solidFill>
              </a:defRPr>
            </a:pPr>
            <a:r>
              <a:t>2</a:t>
            </a:r>
          </a:p>
        </p:txBody>
      </p:sp>
      <p:sp>
        <p:nvSpPr>
          <p:cNvPr id="12" name="TextBox 11"/>
          <p:cNvSpPr txBox="1"/>
          <p:nvPr/>
        </p:nvSpPr>
        <p:spPr>
          <a:xfrm>
            <a:off x="685800" y="2953512"/>
            <a:ext cx="777240" cy="201168"/>
          </a:xfrm>
          <a:prstGeom prst="rect">
            <a:avLst/>
          </a:prstGeom>
          <a:noFill/>
        </p:spPr>
        <p:txBody>
          <a:bodyPr wrap="square" lIns="54864" rIns="54864">
            <a:spAutoFit/>
          </a:bodyPr>
          <a:lstStyle/>
          <a:p>
            <a:pPr>
              <a:defRPr sz="900" b="1">
                <a:solidFill>
                  <a:srgbClr val="475569"/>
                </a:solidFill>
              </a:defRPr>
            </a:pPr>
            <a:r>
              <a:t>Amber</a:t>
            </a:r>
          </a:p>
        </p:txBody>
      </p:sp>
      <p:sp>
        <p:nvSpPr>
          <p:cNvPr id="13" name="Rectangle 12"/>
          <p:cNvSpPr/>
          <p:nvPr/>
        </p:nvSpPr>
        <p:spPr>
          <a:xfrm>
            <a:off x="1417320" y="2953512"/>
            <a:ext cx="3794759" cy="201168"/>
          </a:xfrm>
          <a:prstGeom prst="rect">
            <a:avLst/>
          </a:prstGeom>
          <a:solidFill>
            <a:srgbClr val="D97706"/>
          </a:solidFill>
          <a:ln>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0" y="2953512"/>
            <a:ext cx="411480" cy="201168"/>
          </a:xfrm>
          <a:prstGeom prst="rect">
            <a:avLst/>
          </a:prstGeom>
          <a:noFill/>
        </p:spPr>
        <p:txBody>
          <a:bodyPr wrap="square" lIns="54864" rIns="54864">
            <a:spAutoFit/>
          </a:bodyPr>
          <a:lstStyle/>
          <a:p>
            <a:pPr>
              <a:defRPr sz="900" b="1">
                <a:solidFill>
                  <a:srgbClr val="475569"/>
                </a:solidFill>
              </a:defRPr>
            </a:pPr>
            <a:r>
              <a:t>2</a:t>
            </a:r>
          </a:p>
        </p:txBody>
      </p:sp>
      <p:sp>
        <p:nvSpPr>
          <p:cNvPr id="15" name="TextBox 14"/>
          <p:cNvSpPr txBox="1"/>
          <p:nvPr/>
        </p:nvSpPr>
        <p:spPr>
          <a:xfrm>
            <a:off x="685800" y="3392424"/>
            <a:ext cx="777240" cy="201168"/>
          </a:xfrm>
          <a:prstGeom prst="rect">
            <a:avLst/>
          </a:prstGeom>
          <a:noFill/>
        </p:spPr>
        <p:txBody>
          <a:bodyPr wrap="square" lIns="54864" rIns="54864">
            <a:spAutoFit/>
          </a:bodyPr>
          <a:lstStyle/>
          <a:p>
            <a:pPr>
              <a:defRPr sz="900" b="1">
                <a:solidFill>
                  <a:srgbClr val="475569"/>
                </a:solidFill>
              </a:defRPr>
            </a:pPr>
            <a:r>
              <a:t>Red</a:t>
            </a:r>
          </a:p>
        </p:txBody>
      </p:sp>
      <p:sp>
        <p:nvSpPr>
          <p:cNvPr id="16" name="Rectangle 15"/>
          <p:cNvSpPr/>
          <p:nvPr/>
        </p:nvSpPr>
        <p:spPr>
          <a:xfrm>
            <a:off x="1417320" y="3392424"/>
            <a:ext cx="320040" cy="201168"/>
          </a:xfrm>
          <a:prstGeom prst="rect">
            <a:avLst/>
          </a:prstGeom>
          <a:solidFill>
            <a:srgbClr val="DC2626"/>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0" y="3392424"/>
            <a:ext cx="411480" cy="201168"/>
          </a:xfrm>
          <a:prstGeom prst="rect">
            <a:avLst/>
          </a:prstGeom>
          <a:noFill/>
        </p:spPr>
        <p:txBody>
          <a:bodyPr wrap="square" lIns="54864" rIns="54864">
            <a:spAutoFit/>
          </a:bodyPr>
          <a:lstStyle/>
          <a:p>
            <a:pPr>
              <a:defRPr sz="900" b="1">
                <a:solidFill>
                  <a:srgbClr val="475569"/>
                </a:solidFill>
              </a:defRPr>
            </a:pPr>
            <a:r>
              <a:t>0</a:t>
            </a:r>
          </a:p>
        </p:txBody>
      </p:sp>
      <p:sp>
        <p:nvSpPr>
          <p:cNvPr id="18" name="TextBox 17"/>
          <p:cNvSpPr txBox="1"/>
          <p:nvPr/>
        </p:nvSpPr>
        <p:spPr>
          <a:xfrm>
            <a:off x="5715000" y="2148840"/>
            <a:ext cx="2743200" cy="1463040"/>
          </a:xfrm>
          <a:prstGeom prst="rect">
            <a:avLst/>
          </a:prstGeom>
          <a:noFill/>
        </p:spPr>
        <p:txBody>
          <a:bodyPr wrap="square" lIns="54864" rIns="54864">
            <a:spAutoFit/>
          </a:bodyPr>
          <a:lstStyle/>
          <a:p>
            <a:pPr>
              <a:defRPr sz="1100" b="0">
                <a:solidFill>
                  <a:srgbClr val="475569"/>
                </a:solidFill>
              </a:defRPr>
            </a:pPr>
            <a:r>
              <a:t>Interpretation</a:t>
            </a:r>
          </a:p>
          <a:p>
            <a:pPr>
              <a:defRPr sz="1100" b="0">
                <a:solidFill>
                  <a:srgbClr val="475569"/>
                </a:solidFill>
              </a:defRPr>
            </a:pPr>
            <a:r>
              <a:t>Green indicates on-track execution. Amber requires management follow-up. Red or blocker-backed items should be treated as escalation candidates for the next governance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Team Status Detail</a:t>
            </a:r>
          </a:p>
        </p:txBody>
      </p:sp>
      <p:graphicFrame>
        <p:nvGraphicFramePr>
          <p:cNvPr id="3" name="Table 2"/>
          <p:cNvGraphicFramePr>
            <a:graphicFrameLocks noGrp="1"/>
          </p:cNvGraphicFramePr>
          <p:nvPr/>
        </p:nvGraphicFramePr>
        <p:xfrm>
          <a:off x="228600" y="960120"/>
          <a:ext cx="8686800" cy="4480560"/>
        </p:xfrm>
        <a:graphic>
          <a:graphicData uri="http://schemas.openxmlformats.org/drawingml/2006/table">
            <a:tbl>
              <a:tblPr firstRow="1" bandRow="1">
                <a:tableStyleId>{5C22544A-7EE6-4342-B048-85BDC9FD1C3A}</a:tableStyleId>
              </a:tblPr>
              <a:tblGrid>
                <a:gridCol w="1447800"/>
                <a:gridCol w="1447800"/>
                <a:gridCol w="1447800"/>
                <a:gridCol w="1447800"/>
                <a:gridCol w="1447800"/>
                <a:gridCol w="1447800"/>
              </a:tblGrid>
              <a:tr h="896112">
                <a:tc>
                  <a:txBody>
                    <a:bodyPr/>
                    <a:lstStyle/>
                    <a:p>
                      <a:pPr>
                        <a:defRPr b="1" sz="900">
                          <a:solidFill>
                            <a:srgbClr val="FFFFFF"/>
                          </a:solidFill>
                        </a:defRPr>
                      </a:pPr>
                      <a:r>
                        <a:t>Person</a:t>
                      </a:r>
                    </a:p>
                  </a:txBody>
                  <a:tcPr>
                    <a:solidFill>
                      <a:srgbClr val="0F172A"/>
                    </a:solidFill>
                  </a:tcPr>
                </a:tc>
                <a:tc>
                  <a:txBody>
                    <a:bodyPr/>
                    <a:lstStyle/>
                    <a:p>
                      <a:pPr>
                        <a:defRPr b="1" sz="900">
                          <a:solidFill>
                            <a:srgbClr val="FFFFFF"/>
                          </a:solidFill>
                        </a:defRPr>
                      </a:pPr>
                      <a:r>
                        <a:t>Project</a:t>
                      </a:r>
                    </a:p>
                  </a:txBody>
                  <a:tcPr>
                    <a:solidFill>
                      <a:srgbClr val="0F172A"/>
                    </a:solidFill>
                  </a:tcPr>
                </a:tc>
                <a:tc>
                  <a:txBody>
                    <a:bodyPr/>
                    <a:lstStyle/>
                    <a:p>
                      <a:pPr>
                        <a:defRPr b="1" sz="900">
                          <a:solidFill>
                            <a:srgbClr val="FFFFFF"/>
                          </a:solidFill>
                        </a:defRPr>
                      </a:pPr>
                      <a:r>
                        <a:t>Period</a:t>
                      </a:r>
                    </a:p>
                  </a:txBody>
                  <a:tcPr>
                    <a:solidFill>
                      <a:srgbClr val="0F172A"/>
                    </a:solidFill>
                  </a:tcPr>
                </a:tc>
                <a:tc>
                  <a:txBody>
                    <a:bodyPr/>
                    <a:lstStyle/>
                    <a:p>
                      <a:pPr>
                        <a:defRPr b="1" sz="900">
                          <a:solidFill>
                            <a:srgbClr val="FFFFFF"/>
                          </a:solidFill>
                        </a:defRPr>
                      </a:pPr>
                      <a:r>
                        <a:t>Health</a:t>
                      </a:r>
                    </a:p>
                  </a:txBody>
                  <a:tcPr>
                    <a:solidFill>
                      <a:srgbClr val="0F172A"/>
                    </a:solidFill>
                  </a:tcPr>
                </a:tc>
                <a:tc>
                  <a:txBody>
                    <a:bodyPr/>
                    <a:lstStyle/>
                    <a:p>
                      <a:pPr>
                        <a:defRPr b="1" sz="900">
                          <a:solidFill>
                            <a:srgbClr val="FFFFFF"/>
                          </a:solidFill>
                        </a:defRPr>
                      </a:pPr>
                      <a:r>
                        <a:t>Complete</a:t>
                      </a:r>
                    </a:p>
                  </a:txBody>
                  <a:tcPr>
                    <a:solidFill>
                      <a:srgbClr val="0F172A"/>
                    </a:solidFill>
                  </a:tcPr>
                </a:tc>
                <a:tc>
                  <a:txBody>
                    <a:bodyPr/>
                    <a:lstStyle/>
                    <a:p>
                      <a:pPr>
                        <a:defRPr b="1" sz="900">
                          <a:solidFill>
                            <a:srgbClr val="FFFFFF"/>
                          </a:solidFill>
                        </a:defRPr>
                      </a:pPr>
                      <a:r>
                        <a:t>Key Update</a:t>
                      </a:r>
                    </a:p>
                  </a:txBody>
                  <a:tcPr>
                    <a:solidFill>
                      <a:srgbClr val="0F172A"/>
                    </a:solidFill>
                  </a:tcPr>
                </a:tc>
              </a:tr>
              <a:tr h="896112">
                <a:tc>
                  <a:txBody>
                    <a:bodyPr/>
                    <a:lstStyle/>
                    <a:p>
                      <a:pPr>
                        <a:defRPr sz="800">
                          <a:solidFill>
                            <a:srgbClr val="0F172A"/>
                          </a:solidFill>
                        </a:defRPr>
                      </a:pPr>
                      <a:r>
                        <a:t>Anya Rao</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Green</a:t>
                      </a:r>
                    </a:p>
                  </a:txBody>
                  <a:tcPr/>
                </a:tc>
                <a:tc>
                  <a:txBody>
                    <a:bodyPr/>
                    <a:lstStyle/>
                    <a:p>
                      <a:pPr>
                        <a:defRPr sz="800">
                          <a:solidFill>
                            <a:srgbClr val="475569"/>
                          </a:solidFill>
                        </a:defRPr>
                      </a:pPr>
                      <a:r>
                        <a:t>78%</a:t>
                      </a:r>
                    </a:p>
                  </a:txBody>
                  <a:tcPr/>
                </a:tc>
                <a:tc>
                  <a:txBody>
                    <a:bodyPr/>
                    <a:lstStyle/>
                    <a:p>
                      <a:pPr>
                        <a:defRPr sz="800">
                          <a:solidFill>
                            <a:srgbClr val="475569"/>
                          </a:solidFill>
                        </a:defRPr>
                      </a:pPr>
                      <a:r>
                        <a:t>Completed wallet eligibility checks and improved checkout error handling. Feature flags...</a:t>
                      </a:r>
                    </a:p>
                  </a:txBody>
                  <a:tcPr/>
                </a:tc>
              </a:tr>
              <a:tr h="896112">
                <a:tc>
                  <a:txBody>
                    <a:bodyPr/>
                    <a:lstStyle/>
                    <a:p>
                      <a:pPr>
                        <a:defRPr sz="800">
                          <a:solidFill>
                            <a:srgbClr val="0F172A"/>
                          </a:solidFill>
                        </a:defRPr>
                      </a:pPr>
                      <a:r>
                        <a:t>Diego Martin</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Amber</a:t>
                      </a:r>
                    </a:p>
                  </a:txBody>
                  <a:tcPr/>
                </a:tc>
                <a:tc>
                  <a:txBody>
                    <a:bodyPr/>
                    <a:lstStyle/>
                    <a:p>
                      <a:pPr>
                        <a:defRPr sz="800">
                          <a:solidFill>
                            <a:srgbClr val="475569"/>
                          </a:solidFill>
                        </a:defRPr>
                      </a:pPr>
                      <a:r>
                        <a:t>68%</a:t>
                      </a:r>
                    </a:p>
                  </a:txBody>
                  <a:tcPr/>
                </a:tc>
                <a:tc>
                  <a:txBody>
                    <a:bodyPr/>
                    <a:lstStyle/>
                    <a:p>
                      <a:pPr>
                        <a:defRPr sz="800">
                          <a:solidFill>
                            <a:srgbClr val="475569"/>
                          </a:solidFill>
                        </a:defRPr>
                      </a:pPr>
                      <a:r>
                        <a:t>Delivered payment retry API and telemetry hooks. Integration tests are stable except...</a:t>
                      </a:r>
                    </a:p>
                  </a:txBody>
                  <a:tcPr/>
                </a:tc>
              </a:tr>
              <a:tr h="896112">
                <a:tc>
                  <a:txBody>
                    <a:bodyPr/>
                    <a:lstStyle/>
                    <a:p>
                      <a:pPr>
                        <a:defRPr sz="800">
                          <a:solidFill>
                            <a:srgbClr val="0F172A"/>
                          </a:solidFill>
                        </a:defRPr>
                      </a:pPr>
                      <a:r>
                        <a:t>Nina Patel</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Amber</a:t>
                      </a:r>
                    </a:p>
                  </a:txBody>
                  <a:tcPr/>
                </a:tc>
                <a:tc>
                  <a:txBody>
                    <a:bodyPr/>
                    <a:lstStyle/>
                    <a:p>
                      <a:pPr>
                        <a:defRPr sz="800">
                          <a:solidFill>
                            <a:srgbClr val="475569"/>
                          </a:solidFill>
                        </a:defRPr>
                      </a:pPr>
                      <a:r>
                        <a:t>70%</a:t>
                      </a:r>
                    </a:p>
                  </a:txBody>
                  <a:tcPr/>
                </a:tc>
                <a:tc>
                  <a:txBody>
                    <a:bodyPr/>
                    <a:lstStyle/>
                    <a:p>
                      <a:pPr>
                        <a:defRPr sz="800">
                          <a:solidFill>
                            <a:srgbClr val="475569"/>
                          </a:solidFill>
                        </a:defRPr>
                      </a:pPr>
                      <a:r>
                        <a:t>Completed regression plan, prioritized critical checkout journeys, and opened defects...</a:t>
                      </a:r>
                    </a:p>
                  </a:txBody>
                  <a:tcPr/>
                </a:tc>
              </a:tr>
              <a:tr h="896112">
                <a:tc>
                  <a:txBody>
                    <a:bodyPr/>
                    <a:lstStyle/>
                    <a:p>
                      <a:pPr>
                        <a:defRPr sz="800">
                          <a:solidFill>
                            <a:srgbClr val="0F172A"/>
                          </a:solidFill>
                        </a:defRPr>
                      </a:pPr>
                      <a:r>
                        <a:t>Marcus Lee</a:t>
                      </a:r>
                    </a:p>
                  </a:txBody>
                  <a:tcPr/>
                </a:tc>
                <a:tc>
                  <a:txBody>
                    <a:bodyPr/>
                    <a:lstStyle/>
                    <a:p>
                      <a:pPr>
                        <a:defRPr sz="800">
                          <a:solidFill>
                            <a:srgbClr val="475569"/>
                          </a:solidFill>
                        </a:defRPr>
                      </a:pPr>
                      <a:r>
                        <a:t>Checkout Modernization Platform</a:t>
                      </a:r>
                    </a:p>
                  </a:txBody>
                  <a:tcPr/>
                </a:tc>
                <a:tc>
                  <a:txBody>
                    <a:bodyPr/>
                    <a:lstStyle/>
                    <a:p>
                      <a:pPr>
                        <a:defRPr sz="800">
                          <a:solidFill>
                            <a:srgbClr val="475569"/>
                          </a:solidFill>
                        </a:defRPr>
                      </a:pPr>
                      <a:r>
                        <a:t>20 Jul 2026</a:t>
                      </a:r>
                    </a:p>
                  </a:txBody>
                  <a:tcPr/>
                </a:tc>
                <a:tc>
                  <a:txBody>
                    <a:bodyPr/>
                    <a:lstStyle/>
                    <a:p>
                      <a:pPr>
                        <a:defRPr sz="800">
                          <a:solidFill>
                            <a:srgbClr val="475569"/>
                          </a:solidFill>
                        </a:defRPr>
                      </a:pPr>
                      <a:r>
                        <a:t>Green</a:t>
                      </a:r>
                    </a:p>
                  </a:txBody>
                  <a:tcPr/>
                </a:tc>
                <a:tc>
                  <a:txBody>
                    <a:bodyPr/>
                    <a:lstStyle/>
                    <a:p>
                      <a:pPr>
                        <a:defRPr sz="800">
                          <a:solidFill>
                            <a:srgbClr val="475569"/>
                          </a:solidFill>
                        </a:defRPr>
                      </a:pPr>
                      <a:r>
                        <a:t>72%</a:t>
                      </a:r>
                    </a:p>
                  </a:txBody>
                  <a:tcPr/>
                </a:tc>
                <a:tc>
                  <a:txBody>
                    <a:bodyPr/>
                    <a:lstStyle/>
                    <a:p>
                      <a:pPr>
                        <a:defRPr sz="800">
                          <a:solidFill>
                            <a:srgbClr val="475569"/>
                          </a:solidFill>
                        </a:defRPr>
                      </a:pPr>
                      <a:r>
                        <a:t>Sprint 8 remains within budget. UAT readiness is progressing with two decision items...</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solidFill>
                  <a:srgbClr val="0F172A"/>
                </a:solidFill>
              </a:defRPr>
            </a:pPr>
            <a:r>
              <a:t>Risks, Decisions, Next Actions</a:t>
            </a:r>
          </a:p>
        </p:txBody>
      </p:sp>
      <p:sp>
        <p:nvSpPr>
          <p:cNvPr id="3" name="TextBox 2"/>
          <p:cNvSpPr txBox="1"/>
          <p:nvPr/>
        </p:nvSpPr>
        <p:spPr>
          <a:xfrm>
            <a:off x="594360" y="960120"/>
            <a:ext cx="1920240" cy="228600"/>
          </a:xfrm>
          <a:prstGeom prst="rect">
            <a:avLst/>
          </a:prstGeom>
          <a:noFill/>
        </p:spPr>
        <p:txBody>
          <a:bodyPr wrap="square" lIns="54864" rIns="54864">
            <a:spAutoFit/>
          </a:bodyPr>
          <a:lstStyle/>
          <a:p>
            <a:pPr>
              <a:defRPr sz="1000" b="1">
                <a:solidFill>
                  <a:srgbClr val="1D4ED8"/>
                </a:solidFill>
              </a:defRPr>
            </a:pPr>
            <a:r>
              <a:t>Checkout Modernization Platform</a:t>
            </a:r>
          </a:p>
        </p:txBody>
      </p:sp>
      <p:sp>
        <p:nvSpPr>
          <p:cNvPr id="4" name="TextBox 3"/>
          <p:cNvSpPr txBox="1"/>
          <p:nvPr/>
        </p:nvSpPr>
        <p:spPr>
          <a:xfrm>
            <a:off x="2514600" y="960120"/>
            <a:ext cx="6126480" cy="502920"/>
          </a:xfrm>
          <a:prstGeom prst="rect">
            <a:avLst/>
          </a:prstGeom>
          <a:noFill/>
        </p:spPr>
        <p:txBody>
          <a:bodyPr wrap="square" lIns="54864" rIns="54864">
            <a:spAutoFit/>
          </a:bodyPr>
          <a:lstStyle/>
          <a:p>
            <a:pPr>
              <a:defRPr sz="1000" b="0">
                <a:solidFill>
                  <a:srgbClr val="475569"/>
                </a:solidFill>
              </a:defRPr>
            </a:pPr>
            <a:r>
              <a:t>Risk: Timeline risk if PSP stability is not resolved before Sprint 9 hardening.</a:t>
            </a:r>
          </a:p>
          <a:p>
            <a:pPr>
              <a:defRPr sz="1000" b="0">
                <a:solidFill>
                  <a:srgbClr val="475569"/>
                </a:solidFill>
              </a:defRPr>
            </a:pPr>
            <a:r>
              <a:t>Action: Escalate PSP support ticket and agree workaround for timeout simulations.</a:t>
            </a:r>
          </a:p>
        </p:txBody>
      </p:sp>
      <p:sp>
        <p:nvSpPr>
          <p:cNvPr id="5" name="TextBox 4"/>
          <p:cNvSpPr txBox="1"/>
          <p:nvPr/>
        </p:nvSpPr>
        <p:spPr>
          <a:xfrm>
            <a:off x="594360" y="1645920"/>
            <a:ext cx="1920240" cy="228600"/>
          </a:xfrm>
          <a:prstGeom prst="rect">
            <a:avLst/>
          </a:prstGeom>
          <a:noFill/>
        </p:spPr>
        <p:txBody>
          <a:bodyPr wrap="square" lIns="54864" rIns="54864">
            <a:spAutoFit/>
          </a:bodyPr>
          <a:lstStyle/>
          <a:p>
            <a:pPr>
              <a:defRPr sz="1000" b="1">
                <a:solidFill>
                  <a:srgbClr val="1D4ED8"/>
                </a:solidFill>
              </a:defRPr>
            </a:pPr>
            <a:r>
              <a:t>Checkout Modernization Platform</a:t>
            </a:r>
          </a:p>
        </p:txBody>
      </p:sp>
      <p:sp>
        <p:nvSpPr>
          <p:cNvPr id="6" name="TextBox 5"/>
          <p:cNvSpPr txBox="1"/>
          <p:nvPr/>
        </p:nvSpPr>
        <p:spPr>
          <a:xfrm>
            <a:off x="2514600" y="1645920"/>
            <a:ext cx="6126480" cy="502920"/>
          </a:xfrm>
          <a:prstGeom prst="rect">
            <a:avLst/>
          </a:prstGeom>
          <a:noFill/>
        </p:spPr>
        <p:txBody>
          <a:bodyPr wrap="square" lIns="54864" rIns="54864">
            <a:spAutoFit/>
          </a:bodyPr>
          <a:lstStyle/>
          <a:p>
            <a:pPr>
              <a:defRPr sz="1000" b="0">
                <a:solidFill>
                  <a:srgbClr val="475569"/>
                </a:solidFill>
              </a:defRPr>
            </a:pPr>
            <a:r>
              <a:t>Risk: Defect closure may slip without product owner decision on rounding tolerance.</a:t>
            </a:r>
          </a:p>
          <a:p>
            <a:pPr>
              <a:defRPr sz="1000" b="0">
                <a:solidFill>
                  <a:srgbClr val="475569"/>
                </a:solidFill>
              </a:defRPr>
            </a:pPr>
            <a:r>
              <a:t>Action: Schedule product owner decision review and freeze UAT entry criteria.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